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82880"/>
            <a:ext cx="3474720" cy="3474720"/>
          </a:xfrm>
          <a:prstGeom prst="ellipse">
            <a:avLst/>
          </a:prstGeom>
          <a:solidFill>
            <a:srgbClr val="163040"/>
          </a:solidFill>
          <a:ln w="12700">
            <a:solidFill>
              <a:srgbClr val="163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Yedda.ai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del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11480" y="2651760"/>
            <a:ext cx="2743200" cy="3840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651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MENSUAL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321868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Queen México — Zamabrands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1480" y="39136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4206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tiendas activas · DA07QUMX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47731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www.yedda.ai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Mensual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658368"/>
            <a:ext cx="2743200" cy="132588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" y="685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1,959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164592" y="1463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este mes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658368"/>
            <a:ext cx="658368" cy="365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65836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47.3%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30752" y="6766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30752" y="914400"/>
            <a:ext cx="2468880" cy="73152"/>
          </a:xfrm>
          <a:prstGeom prst="rect">
            <a:avLst/>
          </a:prstGeom>
          <a:solidFill>
            <a:srgbClr val="3D5568"/>
          </a:solidFill>
          <a:ln w="12700">
            <a:solidFill>
              <a:srgbClr val="3D55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30752" y="914400"/>
            <a:ext cx="116778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0" y="1115568"/>
            <a:ext cx="658368" cy="365760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111556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35.8%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30752" y="11338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Costs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30752" y="1371600"/>
            <a:ext cx="2468880" cy="73152"/>
          </a:xfrm>
          <a:prstGeom prst="rect">
            <a:avLst/>
          </a:prstGeom>
          <a:solidFill>
            <a:srgbClr val="3D5568"/>
          </a:solidFill>
          <a:ln w="12700">
            <a:solidFill>
              <a:srgbClr val="3D55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30752" y="1371600"/>
            <a:ext cx="883859" cy="73152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7520" y="1572768"/>
            <a:ext cx="658368" cy="365760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157276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16.9%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30752" y="15910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Compliance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30752" y="1828800"/>
            <a:ext cx="2468880" cy="73152"/>
          </a:xfrm>
          <a:prstGeom prst="rect">
            <a:avLst/>
          </a:prstGeom>
          <a:solidFill>
            <a:srgbClr val="3D5568"/>
          </a:solidFill>
          <a:ln w="12700">
            <a:solidFill>
              <a:srgbClr val="3D55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30752" y="1828800"/>
            <a:ext cx="417241" cy="73152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084832"/>
            <a:ext cx="3127248" cy="27432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208483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TIPOS DE ALERTA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4592" y="23957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personas en fila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011680" y="2450592"/>
            <a:ext cx="658368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2395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17.9%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64592" y="28529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order &gt;3min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011680" y="2907792"/>
            <a:ext cx="443928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0" y="28529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12.0%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64592" y="33101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usando móvil (caja)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011680" y="3364992"/>
            <a:ext cx="378091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0" y="33101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10.3%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64592" y="37673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customer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011680" y="3822192"/>
            <a:ext cx="336708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0" y="37673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9.1%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64592" y="42245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fuera de caja &gt;1min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011680" y="4279392"/>
            <a:ext cx="334827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0" y="42245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9.1%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401568" y="2084832"/>
            <a:ext cx="2706624" cy="27432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01568" y="2084832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TIENDAS CON MÁS ALERTAS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75888" y="24140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75888" y="24140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2.8%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224528" y="2395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OASIS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75888" y="28712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75888" y="28712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2.7%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224528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MANACAR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75888" y="33284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75888" y="33284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2.7%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224528" y="3310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ARAGON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675888" y="37856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75888" y="37856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2.6%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224528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REFORMA 222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675888" y="42428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75888" y="42428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2.5%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224528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TLALPAN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217920" y="658368"/>
            <a:ext cx="2788920" cy="27432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17920" y="65836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SERVICIO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217920" y="969264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Time avg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217920" y="111556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3:13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6217920" y="137160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total caja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7607808" y="969264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Time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7607808" y="111556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1:08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7607808" y="137160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pedido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6217920" y="144475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Time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217920" y="159105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1:04</a:t>
            </a:r>
            <a:endParaRPr lang="en-US" sz="2200" dirty="0"/>
          </a:p>
        </p:txBody>
      </p:sp>
      <p:sp>
        <p:nvSpPr>
          <p:cNvPr id="69" name="Text 67"/>
          <p:cNvSpPr/>
          <p:nvPr/>
        </p:nvSpPr>
        <p:spPr>
          <a:xfrm>
            <a:off x="6217920" y="1847088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en cola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7607808" y="144475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Time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7607808" y="159105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1:33</a:t>
            </a:r>
            <a:endParaRPr lang="en-US" sz="2200" dirty="0"/>
          </a:p>
        </p:txBody>
      </p:sp>
      <p:sp>
        <p:nvSpPr>
          <p:cNvPr id="72" name="Text 70"/>
          <p:cNvSpPr/>
          <p:nvPr/>
        </p:nvSpPr>
        <p:spPr>
          <a:xfrm>
            <a:off x="7607808" y="1847088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recepción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6217920" y="192024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Wait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6217920" y="20665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2:05</a:t>
            </a:r>
            <a:endParaRPr lang="en-US" sz="2200" dirty="0"/>
          </a:p>
        </p:txBody>
      </p:sp>
      <p:sp>
        <p:nvSpPr>
          <p:cNvPr id="75" name="Text 73"/>
          <p:cNvSpPr/>
          <p:nvPr/>
        </p:nvSpPr>
        <p:spPr>
          <a:xfrm>
            <a:off x="6217920" y="2322576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delivery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7607808" y="192024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Cam Check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7607808" y="20665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2200" dirty="0"/>
          </a:p>
        </p:txBody>
      </p:sp>
      <p:sp>
        <p:nvSpPr>
          <p:cNvPr id="78" name="Text 76"/>
          <p:cNvSpPr/>
          <p:nvPr/>
        </p:nvSpPr>
        <p:spPr>
          <a:xfrm>
            <a:off x="7607808" y="2322576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de cámara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6217920" y="2432304"/>
            <a:ext cx="2788920" cy="256032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17920" y="243230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Y PEOR TIENDA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6217920" y="2706624"/>
            <a:ext cx="2788920" cy="51206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09360" y="27432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alertas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309360" y="29077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GALERIAS METEPEC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7772400" y="27797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0.8%</a:t>
            </a:r>
            <a:endParaRPr lang="en-US" sz="2400" dirty="0"/>
          </a:p>
        </p:txBody>
      </p:sp>
      <p:sp>
        <p:nvSpPr>
          <p:cNvPr id="85" name="Shape 83"/>
          <p:cNvSpPr/>
          <p:nvPr/>
        </p:nvSpPr>
        <p:spPr>
          <a:xfrm>
            <a:off x="6217920" y="3255264"/>
            <a:ext cx="2788920" cy="51206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309360" y="32918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alertas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6309360" y="34564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OASIS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7772400" y="33284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2.8%</a:t>
            </a:r>
            <a:endParaRPr lang="en-US" sz="2400" dirty="0"/>
          </a:p>
        </p:txBody>
      </p:sp>
      <p:sp>
        <p:nvSpPr>
          <p:cNvPr id="89" name="Shape 87"/>
          <p:cNvSpPr/>
          <p:nvPr/>
        </p:nvSpPr>
        <p:spPr>
          <a:xfrm>
            <a:off x="6217920" y="3822192"/>
            <a:ext cx="2788920" cy="256032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217920" y="382219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TIME — DESTACADOS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6217920" y="4096512"/>
            <a:ext cx="1371600" cy="8046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217920" y="4114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Más rápida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6217920" y="4297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CRYSTAL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6217920" y="4553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0:46 min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7607808" y="4096512"/>
            <a:ext cx="1371600" cy="8046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607808" y="4114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Más lenta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7607808" y="4297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GANTE 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7607808" y="4553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1:50 min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Tiendas por KBP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640080"/>
            <a:ext cx="2121408" cy="365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4008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1 — CUSTOMER EXPERIENCE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64592" y="84124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sobre 927 alertas CE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4592" y="1060704"/>
            <a:ext cx="2121408" cy="7315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" y="113385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REFORMA 222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" y="1408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64592" y="1847088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6032" y="19202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ACOXPA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" y="21945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3.9%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64592" y="2633472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6032" y="27066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" y="2688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KIOSCO SANTA FE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" y="29809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3.7%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64592" y="3419856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56032" y="34930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3776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SAN ANGEL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6032" y="3767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3.7%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64592" y="4206240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56032" y="427939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3776" y="42611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OASIS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6032" y="45537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3.0%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2377440" y="640080"/>
            <a:ext cx="2121408" cy="365760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64008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2 — REDUCE COSTS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377440" y="84124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sobre 701 alertas RC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377440" y="1060704"/>
            <a:ext cx="2121408" cy="731520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468880" y="113385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706624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ARAGON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468880" y="1408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4.7%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2377440" y="1847088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468880" y="19202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2706624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GALERIAS T2000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468880" y="21945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4.6%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2377440" y="2633472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468880" y="27066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2706624" y="2688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FORTUNA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468880" y="29809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4.4%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2377440" y="3419856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468880" y="34930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2706624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ALAMEDA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468880" y="3767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3.9%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2377440" y="4206240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468880" y="427939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2706624" y="42611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LOMAS VERDES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468880" y="45537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3.7%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4590288" y="640080"/>
            <a:ext cx="2121408" cy="365760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90288" y="64008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3 — OPER. COMPLIANCE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590288" y="84124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sobre 331 alertas CO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590288" y="1060704"/>
            <a:ext cx="2121408" cy="731520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681728" y="113385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919472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MANACAR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681728" y="1408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7.9%</a:t>
            </a:r>
            <a:endParaRPr lang="en-US" sz="2200" dirty="0"/>
          </a:p>
        </p:txBody>
      </p:sp>
      <p:sp>
        <p:nvSpPr>
          <p:cNvPr id="60" name="Shape 58"/>
          <p:cNvSpPr/>
          <p:nvPr/>
        </p:nvSpPr>
        <p:spPr>
          <a:xfrm>
            <a:off x="4590288" y="1847088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4681728" y="19202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919472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SANTA FE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681728" y="21945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4.5%</a:t>
            </a:r>
            <a:endParaRPr lang="en-US" sz="2200" dirty="0"/>
          </a:p>
        </p:txBody>
      </p:sp>
      <p:sp>
        <p:nvSpPr>
          <p:cNvPr id="64" name="Shape 62"/>
          <p:cNvSpPr/>
          <p:nvPr/>
        </p:nvSpPr>
        <p:spPr>
          <a:xfrm>
            <a:off x="4590288" y="2633472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4681728" y="27066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4919472" y="2688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BUENAVISTA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681728" y="29809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4.2%</a:t>
            </a:r>
            <a:endParaRPr lang="en-US" sz="2200" dirty="0"/>
          </a:p>
        </p:txBody>
      </p:sp>
      <p:sp>
        <p:nvSpPr>
          <p:cNvPr id="68" name="Shape 66"/>
          <p:cNvSpPr/>
          <p:nvPr/>
        </p:nvSpPr>
        <p:spPr>
          <a:xfrm>
            <a:off x="4590288" y="3419856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4681728" y="34930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4919472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PALMIRA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681728" y="3767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4.2%</a:t>
            </a:r>
            <a:endParaRPr lang="en-US" sz="2200" dirty="0"/>
          </a:p>
        </p:txBody>
      </p:sp>
      <p:sp>
        <p:nvSpPr>
          <p:cNvPr id="72" name="Shape 70"/>
          <p:cNvSpPr/>
          <p:nvPr/>
        </p:nvSpPr>
        <p:spPr>
          <a:xfrm>
            <a:off x="4590288" y="4206240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4681728" y="427939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4919472" y="42611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TEPEYAC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681728" y="45537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4.2%</a:t>
            </a:r>
            <a:endParaRPr lang="en-US" sz="2200" dirty="0"/>
          </a:p>
        </p:txBody>
      </p:sp>
      <p:sp>
        <p:nvSpPr>
          <p:cNvPr id="76" name="Shape 74"/>
          <p:cNvSpPr/>
          <p:nvPr/>
        </p:nvSpPr>
        <p:spPr>
          <a:xfrm>
            <a:off x="6803136" y="640080"/>
            <a:ext cx="2121408" cy="365760"/>
          </a:xfrm>
          <a:prstGeom prst="rect">
            <a:avLst/>
          </a:prstGeom>
          <a:solidFill>
            <a:srgbClr val="2DC6C6"/>
          </a:solidFill>
          <a:ln w="12700">
            <a:solidFill>
              <a:srgbClr val="2DC6C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803136" y="64008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TIME — VELOCIDAD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6803136" y="84124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t. pedido más rápido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6803136" y="1060704"/>
            <a:ext cx="2121408" cy="731520"/>
          </a:xfrm>
          <a:prstGeom prst="rect">
            <a:avLst/>
          </a:prstGeom>
          <a:solidFill>
            <a:srgbClr val="2DC6C6"/>
          </a:solidFill>
          <a:ln w="12700">
            <a:solidFill>
              <a:srgbClr val="2DC6C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6894576" y="113385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7132320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CRYSTAL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894576" y="1408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0:46</a:t>
            </a:r>
            <a:endParaRPr lang="en-US" sz="2200" dirty="0"/>
          </a:p>
        </p:txBody>
      </p:sp>
      <p:sp>
        <p:nvSpPr>
          <p:cNvPr id="83" name="Shape 81"/>
          <p:cNvSpPr/>
          <p:nvPr/>
        </p:nvSpPr>
        <p:spPr>
          <a:xfrm>
            <a:off x="6803136" y="1847088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6894576" y="19202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7132320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ALAMEDA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6894576" y="21945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0:49</a:t>
            </a:r>
            <a:endParaRPr lang="en-US" sz="2200" dirty="0"/>
          </a:p>
        </p:txBody>
      </p:sp>
      <p:sp>
        <p:nvSpPr>
          <p:cNvPr id="87" name="Shape 85"/>
          <p:cNvSpPr/>
          <p:nvPr/>
        </p:nvSpPr>
        <p:spPr>
          <a:xfrm>
            <a:off x="6803136" y="2633472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6894576" y="27066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7132320" y="2688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TLALPAN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6894576" y="29809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0:53</a:t>
            </a:r>
            <a:endParaRPr lang="en-US" sz="2200" dirty="0"/>
          </a:p>
        </p:txBody>
      </p:sp>
      <p:sp>
        <p:nvSpPr>
          <p:cNvPr id="91" name="Shape 89"/>
          <p:cNvSpPr/>
          <p:nvPr/>
        </p:nvSpPr>
        <p:spPr>
          <a:xfrm>
            <a:off x="6803136" y="3419856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6894576" y="34930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7132320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ARAGON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6894576" y="3767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0:54</a:t>
            </a:r>
            <a:endParaRPr lang="en-US" sz="2200" dirty="0"/>
          </a:p>
        </p:txBody>
      </p:sp>
      <p:sp>
        <p:nvSpPr>
          <p:cNvPr id="95" name="Shape 93"/>
          <p:cNvSpPr/>
          <p:nvPr/>
        </p:nvSpPr>
        <p:spPr>
          <a:xfrm>
            <a:off x="6803136" y="4206240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6" name="Text 94"/>
          <p:cNvSpPr/>
          <p:nvPr/>
        </p:nvSpPr>
        <p:spPr>
          <a:xfrm>
            <a:off x="6894576" y="427939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7132320" y="42611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GALERIAS T2000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6894576" y="45537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0:54</a:t>
            </a:r>
            <a:endParaRPr lang="en-US" sz="2200" dirty="0"/>
          </a:p>
        </p:txBody>
      </p:sp>
      <p:sp>
        <p:nvSpPr>
          <p:cNvPr id="99" name="Text 97"/>
          <p:cNvSpPr/>
          <p:nvPr/>
        </p:nvSpPr>
        <p:spPr>
          <a:xfrm>
            <a:off x="164592" y="484632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sobre 1,959 notificaciones totales · 62 tiendas activas · 01 – 30 Abril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Alertas por Área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594360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2,025 alertas clasificadas por área · 1,959 alertas KBP · 62 tiendas activas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434340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22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Cashier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93392" y="822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registradora y atención en mostrador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502152" y="822960"/>
            <a:ext cx="1005840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2152" y="8229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42232" y="8229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61.8%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4592" y="1225296"/>
            <a:ext cx="4343400" cy="20116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2252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Alerta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090672" y="12252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85032" y="12252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64592" y="144475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1627632"/>
            <a:ext cx="4572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14447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order &gt;3min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90672" y="14447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85032" y="14447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64592" y="171907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" y="1901952"/>
            <a:ext cx="678051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17190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personas en fila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90672" y="17190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85032" y="1719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4592" y="199339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" y="2176272"/>
            <a:ext cx="389395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19933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móvil (caja)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090672" y="19933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85032" y="19933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4592" y="226771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" y="2450592"/>
            <a:ext cx="344837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22677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fuera caja &gt;1min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90672" y="22677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85032" y="22677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4592" y="254203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" y="2724912"/>
            <a:ext cx="294468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" y="254203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atendido &gt;1min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090672" y="25420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85032" y="25420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45152" y="822960"/>
            <a:ext cx="434340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6592" y="822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All Store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473952" y="822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Comportamientos en toda la tienda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982712" y="822960"/>
            <a:ext cx="1005840" cy="384048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82712" y="8229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534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8622792" y="8229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45152" y="1225296"/>
            <a:ext cx="4343400" cy="20116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36592" y="12252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Alerta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571232" y="12252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165592" y="12252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645152" y="144475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18304" y="1627632"/>
            <a:ext cx="457200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36592" y="14447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gorra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571232" y="14447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165592" y="14447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45152" y="171907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18304" y="1901952"/>
            <a:ext cx="580417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36592" y="17190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customer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571232" y="17190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165592" y="1719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33.5%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645152" y="199339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18304" y="2176272"/>
            <a:ext cx="337226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36592" y="19933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open late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571232" y="19933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165592" y="19933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19.5%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645152" y="226771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18304" y="2450592"/>
            <a:ext cx="168613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36592" y="22677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inactivo &gt;5min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571232" y="22677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8165592" y="22677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9.7%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645152" y="254203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18304" y="2724912"/>
            <a:ext cx="100519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36592" y="254203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Playing/fighting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571232" y="25420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8165592" y="25420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5.8%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64592" y="2926080"/>
            <a:ext cx="434340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56032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🏍️  Delivery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1993392" y="29260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repartidores a domicilio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502152" y="2926080"/>
            <a:ext cx="1005840" cy="384048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502152" y="292608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4142232" y="29260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8.6%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164592" y="3328416"/>
            <a:ext cx="4343400" cy="20116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56032" y="3328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Alerta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3090672" y="33284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3685032" y="33284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164592" y="354787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37744" y="3730752"/>
            <a:ext cx="457200" cy="45720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56032" y="35478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waiting &gt;1min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3090672" y="35478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3685032" y="35478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164592" y="382219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37744" y="4005072"/>
            <a:ext cx="36576" cy="45720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56032" y="38221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packaging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3090672" y="38221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3685032" y="38221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0.6%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4645152" y="2926080"/>
            <a:ext cx="434340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736592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Drive Thru</a:t>
            </a:r>
            <a:endParaRPr lang="en-US" sz="1300" dirty="0"/>
          </a:p>
        </p:txBody>
      </p:sp>
      <p:sp>
        <p:nvSpPr>
          <p:cNvPr id="100" name="Text 98"/>
          <p:cNvSpPr/>
          <p:nvPr/>
        </p:nvSpPr>
        <p:spPr>
          <a:xfrm>
            <a:off x="6473952" y="29260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exclusivas de Drive Thru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7982712" y="2926080"/>
            <a:ext cx="1005840" cy="384048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982712" y="292608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103" name="Text 101"/>
          <p:cNvSpPr/>
          <p:nvPr/>
        </p:nvSpPr>
        <p:spPr>
          <a:xfrm>
            <a:off x="8622792" y="29260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45152" y="3328416"/>
            <a:ext cx="4343400" cy="20116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36592" y="3328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Alerta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7571232" y="33284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8165592" y="33284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4645152" y="354787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718304" y="3730752"/>
            <a:ext cx="36576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736592" y="35478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pad misuse [D]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7571232" y="35478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>
            <a:off x="8165592" y="35478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4645152" y="382219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718304" y="4005072"/>
            <a:ext cx="36576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736592" y="38221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fuera caja [D]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7571232" y="38221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8165592" y="38221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4645152" y="409651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718304" y="4279392"/>
            <a:ext cx="36576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736592" y="40965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drawer open [D]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7571232" y="40965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22" name="Text 120"/>
          <p:cNvSpPr/>
          <p:nvPr/>
        </p:nvSpPr>
        <p:spPr>
          <a:xfrm>
            <a:off x="8165592" y="40965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4645152" y="437083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18304" y="4553712"/>
            <a:ext cx="36576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736592" y="437083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móvil [D]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7571232" y="43708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27" name="Text 125"/>
          <p:cNvSpPr/>
          <p:nvPr/>
        </p:nvSpPr>
        <p:spPr>
          <a:xfrm>
            <a:off x="8165592" y="43708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4645152" y="464515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718304" y="4828032"/>
            <a:ext cx="36576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736592" y="46451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not given [D]</a:t>
            </a:r>
            <a:endParaRPr lang="en-US" sz="900" dirty="0"/>
          </a:p>
        </p:txBody>
      </p:sp>
      <p:sp>
        <p:nvSpPr>
          <p:cNvPr id="131" name="Text 129"/>
          <p:cNvSpPr/>
          <p:nvPr/>
        </p:nvSpPr>
        <p:spPr>
          <a:xfrm>
            <a:off x="7571232" y="46451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32" name="Text 130"/>
          <p:cNvSpPr/>
          <p:nvPr/>
        </p:nvSpPr>
        <p:spPr>
          <a:xfrm>
            <a:off x="8165592" y="46451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 Servicio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640080"/>
            <a:ext cx="2103120" cy="347472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40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Time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" y="8229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3:13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" y="1024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3:13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164592" y="1517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del grupo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4592" y="1719072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" y="1719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MÁS RÁPIDAS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64592" y="1975104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1975104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197510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CRYSTAL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02336" y="21945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1:58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4592" y="2395728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2395728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" y="239572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2336" y="24140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TAPACHULA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02336" y="26151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4592" y="2816352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816352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281635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2336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ARAGON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02336" y="30358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2:07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64592" y="3310128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" y="3310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MÁS LENTAS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64592" y="3566160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4592" y="3566160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4592" y="3566160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02336" y="3584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TEZONTLE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02336" y="37856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4:55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64592" y="3986784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4592" y="3986784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4592" y="398678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02336" y="40050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GANTE 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02336" y="42062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4:48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64592" y="4407408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64592" y="4407408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4592" y="440740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02336" y="4425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SATELITE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02336" y="46268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4:26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331720" y="640080"/>
            <a:ext cx="2103120" cy="347472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31720" y="640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Time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331720" y="8229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1:08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31720" y="1024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1:08</a:t>
            </a:r>
            <a:endParaRPr lang="en-US" sz="3800" dirty="0"/>
          </a:p>
        </p:txBody>
      </p:sp>
      <p:sp>
        <p:nvSpPr>
          <p:cNvPr id="50" name="Text 48"/>
          <p:cNvSpPr/>
          <p:nvPr/>
        </p:nvSpPr>
        <p:spPr>
          <a:xfrm>
            <a:off x="2331720" y="1517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del grupo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331720" y="1719072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31720" y="1719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MÁS RÁPIDAS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331720" y="1975104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31720" y="1975104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31720" y="197510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569464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CRYSTAL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569464" y="21945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0:46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331720" y="2395728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31720" y="2395728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331720" y="239572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569464" y="24140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ALAMEDA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2569464" y="26151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0:49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2331720" y="2816352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31720" y="2816352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331720" y="281635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2569464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TLALPAN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2569464" y="30358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0:53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2331720" y="3310128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31720" y="3310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MÁS LENTAS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331720" y="3566160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31720" y="3566160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331720" y="3566160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2569464" y="3584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GANTE 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2569464" y="37856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1:50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2331720" y="3986784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331720" y="3986784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331720" y="398678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2569464" y="40050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INDUSTRIAL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2569464" y="42062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1:43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2331720" y="4407408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331720" y="4407408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331720" y="440740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2569464" y="4425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VILLA COAPA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2569464" y="46268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1:39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4498848" y="640080"/>
            <a:ext cx="2103120" cy="34747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498848" y="640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Time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4498848" y="8229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1:04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498848" y="1024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1:04</a:t>
            </a:r>
            <a:endParaRPr lang="en-US" sz="3800" dirty="0"/>
          </a:p>
        </p:txBody>
      </p:sp>
      <p:sp>
        <p:nvSpPr>
          <p:cNvPr id="89" name="Text 87"/>
          <p:cNvSpPr/>
          <p:nvPr/>
        </p:nvSpPr>
        <p:spPr>
          <a:xfrm>
            <a:off x="4498848" y="1517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del grupo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4498848" y="1719072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498848" y="1719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MÁS RÁPIDAS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4498848" y="1975104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498848" y="1975104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498848" y="197510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4736592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PLAZA REAL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4736592" y="21945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0:32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4498848" y="2395728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498848" y="2395728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98848" y="239572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4736592" y="24140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CRYSTAL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4736592" y="26151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0:37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4498848" y="2816352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498848" y="2816352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498848" y="281635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4736592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CUICUILCO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4736592" y="30358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0:38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4498848" y="3310128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498848" y="3310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MÁS LENTAS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4498848" y="3566160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498848" y="3566160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498848" y="3566160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4736592" y="3584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ANTENAS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4736592" y="37856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1:46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4498848" y="3986784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498848" y="3986784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498848" y="398678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7" name="Text 115"/>
          <p:cNvSpPr/>
          <p:nvPr/>
        </p:nvSpPr>
        <p:spPr>
          <a:xfrm>
            <a:off x="4736592" y="40050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MINATITLAN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4736592" y="42062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1:42</a:t>
            </a:r>
            <a:endParaRPr lang="en-US" sz="1200" dirty="0"/>
          </a:p>
        </p:txBody>
      </p:sp>
      <p:sp>
        <p:nvSpPr>
          <p:cNvPr id="119" name="Shape 117"/>
          <p:cNvSpPr/>
          <p:nvPr/>
        </p:nvSpPr>
        <p:spPr>
          <a:xfrm>
            <a:off x="4498848" y="4407408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498848" y="4407408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498848" y="440740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2" name="Text 120"/>
          <p:cNvSpPr/>
          <p:nvPr/>
        </p:nvSpPr>
        <p:spPr>
          <a:xfrm>
            <a:off x="4736592" y="4425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GANTE </a:t>
            </a:r>
            <a:endParaRPr lang="en-US" sz="850" dirty="0"/>
          </a:p>
        </p:txBody>
      </p:sp>
      <p:sp>
        <p:nvSpPr>
          <p:cNvPr id="123" name="Text 121"/>
          <p:cNvSpPr/>
          <p:nvPr/>
        </p:nvSpPr>
        <p:spPr>
          <a:xfrm>
            <a:off x="4736592" y="46268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1:26</a:t>
            </a:r>
            <a:endParaRPr lang="en-US" sz="1200" dirty="0"/>
          </a:p>
        </p:txBody>
      </p:sp>
      <p:sp>
        <p:nvSpPr>
          <p:cNvPr id="124" name="Shape 122"/>
          <p:cNvSpPr/>
          <p:nvPr/>
        </p:nvSpPr>
        <p:spPr>
          <a:xfrm>
            <a:off x="6665976" y="640080"/>
            <a:ext cx="2103120" cy="347472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665976" y="640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Time</a:t>
            </a:r>
            <a:endParaRPr lang="en-US" sz="1100" dirty="0"/>
          </a:p>
        </p:txBody>
      </p:sp>
      <p:sp>
        <p:nvSpPr>
          <p:cNvPr id="126" name="Text 124"/>
          <p:cNvSpPr/>
          <p:nvPr/>
        </p:nvSpPr>
        <p:spPr>
          <a:xfrm>
            <a:off x="6665976" y="8229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1:33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665976" y="1024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1:33</a:t>
            </a:r>
            <a:endParaRPr lang="en-US" sz="3800" dirty="0"/>
          </a:p>
        </p:txBody>
      </p:sp>
      <p:sp>
        <p:nvSpPr>
          <p:cNvPr id="128" name="Text 126"/>
          <p:cNvSpPr/>
          <p:nvPr/>
        </p:nvSpPr>
        <p:spPr>
          <a:xfrm>
            <a:off x="6665976" y="1517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del grupo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6665976" y="1719072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665976" y="1719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MÁS RÁPIDAS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6665976" y="1975104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665976" y="1975104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665976" y="197510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4" name="Text 132"/>
          <p:cNvSpPr/>
          <p:nvPr/>
        </p:nvSpPr>
        <p:spPr>
          <a:xfrm>
            <a:off x="6903720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GALERIAS METEPEC</a:t>
            </a:r>
            <a:endParaRPr lang="en-US" sz="850" dirty="0"/>
          </a:p>
        </p:txBody>
      </p:sp>
      <p:sp>
        <p:nvSpPr>
          <p:cNvPr id="135" name="Text 133"/>
          <p:cNvSpPr/>
          <p:nvPr/>
        </p:nvSpPr>
        <p:spPr>
          <a:xfrm>
            <a:off x="6903720" y="21945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0:23</a:t>
            </a:r>
            <a:endParaRPr lang="en-US" sz="1200" dirty="0"/>
          </a:p>
        </p:txBody>
      </p:sp>
      <p:sp>
        <p:nvSpPr>
          <p:cNvPr id="136" name="Shape 134"/>
          <p:cNvSpPr/>
          <p:nvPr/>
        </p:nvSpPr>
        <p:spPr>
          <a:xfrm>
            <a:off x="6665976" y="2395728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665976" y="2395728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665976" y="239572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9" name="Text 137"/>
          <p:cNvSpPr/>
          <p:nvPr/>
        </p:nvSpPr>
        <p:spPr>
          <a:xfrm>
            <a:off x="6903720" y="24140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TAPACHULA</a:t>
            </a:r>
            <a:endParaRPr lang="en-US" sz="850" dirty="0"/>
          </a:p>
        </p:txBody>
      </p:sp>
      <p:sp>
        <p:nvSpPr>
          <p:cNvPr id="140" name="Text 138"/>
          <p:cNvSpPr/>
          <p:nvPr/>
        </p:nvSpPr>
        <p:spPr>
          <a:xfrm>
            <a:off x="6903720" y="26151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0:42</a:t>
            </a:r>
            <a:endParaRPr lang="en-US" sz="1200" dirty="0"/>
          </a:p>
        </p:txBody>
      </p:sp>
      <p:sp>
        <p:nvSpPr>
          <p:cNvPr id="141" name="Shape 139"/>
          <p:cNvSpPr/>
          <p:nvPr/>
        </p:nvSpPr>
        <p:spPr>
          <a:xfrm>
            <a:off x="6665976" y="2816352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665976" y="2816352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665976" y="281635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4" name="Text 142"/>
          <p:cNvSpPr/>
          <p:nvPr/>
        </p:nvSpPr>
        <p:spPr>
          <a:xfrm>
            <a:off x="6903720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GALERIAS TUXTLA</a:t>
            </a:r>
            <a:endParaRPr lang="en-US" sz="850" dirty="0"/>
          </a:p>
        </p:txBody>
      </p:sp>
      <p:sp>
        <p:nvSpPr>
          <p:cNvPr id="145" name="Text 143"/>
          <p:cNvSpPr/>
          <p:nvPr/>
        </p:nvSpPr>
        <p:spPr>
          <a:xfrm>
            <a:off x="6903720" y="30358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0:46</a:t>
            </a:r>
            <a:endParaRPr lang="en-US" sz="1200" dirty="0"/>
          </a:p>
        </p:txBody>
      </p:sp>
      <p:sp>
        <p:nvSpPr>
          <p:cNvPr id="146" name="Shape 144"/>
          <p:cNvSpPr/>
          <p:nvPr/>
        </p:nvSpPr>
        <p:spPr>
          <a:xfrm>
            <a:off x="6665976" y="3310128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6665976" y="3310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MÁS LENTAS</a:t>
            </a:r>
            <a:endParaRPr lang="en-US" sz="850" dirty="0"/>
          </a:p>
        </p:txBody>
      </p:sp>
      <p:sp>
        <p:nvSpPr>
          <p:cNvPr id="148" name="Shape 146"/>
          <p:cNvSpPr/>
          <p:nvPr/>
        </p:nvSpPr>
        <p:spPr>
          <a:xfrm>
            <a:off x="6665976" y="3566160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665976" y="3566160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6665976" y="3566160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1" name="Text 149"/>
          <p:cNvSpPr/>
          <p:nvPr/>
        </p:nvSpPr>
        <p:spPr>
          <a:xfrm>
            <a:off x="6903720" y="3584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TEZONTLE</a:t>
            </a:r>
            <a:endParaRPr lang="en-US" sz="850" dirty="0"/>
          </a:p>
        </p:txBody>
      </p:sp>
      <p:sp>
        <p:nvSpPr>
          <p:cNvPr id="152" name="Text 150"/>
          <p:cNvSpPr/>
          <p:nvPr/>
        </p:nvSpPr>
        <p:spPr>
          <a:xfrm>
            <a:off x="6903720" y="37856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3:05</a:t>
            </a:r>
            <a:endParaRPr lang="en-US" sz="1200" dirty="0"/>
          </a:p>
        </p:txBody>
      </p:sp>
      <p:sp>
        <p:nvSpPr>
          <p:cNvPr id="153" name="Shape 151"/>
          <p:cNvSpPr/>
          <p:nvPr/>
        </p:nvSpPr>
        <p:spPr>
          <a:xfrm>
            <a:off x="6665976" y="3986784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665976" y="3986784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665976" y="398678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6" name="Text 154"/>
          <p:cNvSpPr/>
          <p:nvPr/>
        </p:nvSpPr>
        <p:spPr>
          <a:xfrm>
            <a:off x="6903720" y="40050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SATELITE</a:t>
            </a:r>
            <a:endParaRPr lang="en-US" sz="850" dirty="0"/>
          </a:p>
        </p:txBody>
      </p:sp>
      <p:sp>
        <p:nvSpPr>
          <p:cNvPr id="157" name="Text 155"/>
          <p:cNvSpPr/>
          <p:nvPr/>
        </p:nvSpPr>
        <p:spPr>
          <a:xfrm>
            <a:off x="6903720" y="42062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2:51</a:t>
            </a:r>
            <a:endParaRPr lang="en-US" sz="1200" dirty="0"/>
          </a:p>
        </p:txBody>
      </p:sp>
      <p:sp>
        <p:nvSpPr>
          <p:cNvPr id="158" name="Shape 156"/>
          <p:cNvSpPr/>
          <p:nvPr/>
        </p:nvSpPr>
        <p:spPr>
          <a:xfrm>
            <a:off x="6665976" y="4407408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665976" y="4407408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6665976" y="440740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1" name="Text 159"/>
          <p:cNvSpPr/>
          <p:nvPr/>
        </p:nvSpPr>
        <p:spPr>
          <a:xfrm>
            <a:off x="6903720" y="4425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DELTA</a:t>
            </a:r>
            <a:endParaRPr lang="en-US" sz="850" dirty="0"/>
          </a:p>
        </p:txBody>
      </p:sp>
      <p:sp>
        <p:nvSpPr>
          <p:cNvPr id="162" name="Text 160"/>
          <p:cNvSpPr/>
          <p:nvPr/>
        </p:nvSpPr>
        <p:spPr>
          <a:xfrm>
            <a:off x="6903720" y="46268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2:49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1 — Customer Experience: desglose por alerta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927 alertas = 47.3% de notificaciones · Cashier Area es el principal foco de Customer Experience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944368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personas en fila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822960"/>
            <a:ext cx="822960" cy="329184"/>
          </a:xfrm>
          <a:prstGeom prst="rect">
            <a:avLst/>
          </a:prstGeom>
          <a:solidFill>
            <a:srgbClr val="1A7A70"/>
          </a:solidFill>
          <a:ln w="12700">
            <a:solidFill>
              <a:srgbClr val="1A7A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98064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37.8%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COSMOPOL (6.0%)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DQ KIOSCO SANTA FE (6.0%)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4592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DQ SAN ANGEL (6.0%)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DQ REFORMA 222 (5.7%)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4592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DQ ACOXPA (5.4%)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55264" y="822960"/>
            <a:ext cx="2944368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order &gt;3min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76672" y="822960"/>
            <a:ext cx="822960" cy="329184"/>
          </a:xfrm>
          <a:prstGeom prst="rect">
            <a:avLst/>
          </a:prstGeom>
          <a:solidFill>
            <a:srgbClr val="1A7A70"/>
          </a:solidFill>
          <a:ln w="12700">
            <a:solidFill>
              <a:srgbClr val="1A7A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88736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25.5%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55264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SATELITE (6.8%)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55264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28416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DQ COATZACOALCOS (5.5%)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55264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DQ KIOSCO SANTA FE (4.7%)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55264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28416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DQ DELTA (3.8%)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55264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28416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DQ MINATITLAN (3.8%)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4592" y="2852928"/>
            <a:ext cx="2944368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customer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0" y="2852928"/>
            <a:ext cx="822960" cy="329184"/>
          </a:xfrm>
          <a:prstGeom prst="rect">
            <a:avLst/>
          </a:prstGeom>
          <a:solidFill>
            <a:srgbClr val="1A7A70"/>
          </a:solidFill>
          <a:ln w="12700">
            <a:solidFill>
              <a:srgbClr val="1A7A7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0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798064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19.3%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PARQUE TOREO (8.4%)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64592" y="3511296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7744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DQ ACOXPA (7.8%)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64592" y="382219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DQ REFORMA 222 (7.8%)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64592" y="413308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7744" y="4169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DQ TLALNEPANTLA (6.1%)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64592" y="444398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7744" y="4480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DQ SAN ANGEL (5.0%)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55264" y="2852928"/>
            <a:ext cx="2944368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28416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no atendido &gt;1min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376672" y="2852928"/>
            <a:ext cx="822960" cy="329184"/>
          </a:xfrm>
          <a:prstGeom prst="rect">
            <a:avLst/>
          </a:prstGeom>
          <a:solidFill>
            <a:srgbClr val="1A7A70"/>
          </a:solidFill>
          <a:ln w="12700">
            <a:solidFill>
              <a:srgbClr val="1A7A7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76672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888736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55264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28416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VALLEJO (11.8%)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55264" y="3511296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28416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DQ PLAZA REAL (9.2%)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55264" y="382219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28416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DQ ARAGON (6.6%)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255264" y="413308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28416" y="4169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DQ TEZONTLE (6.6%)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255264" y="444398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28416" y="4480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DQ COMITAN (5.9%)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CE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217920" y="1133856"/>
            <a:ext cx="2788920" cy="3474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09360" y="11704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personas en fila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7754112" y="11704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357616" y="11704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37.8%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217920" y="1499616"/>
            <a:ext cx="2788920" cy="34747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09360" y="15361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order &gt;3min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7754112" y="15361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236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8357616" y="15361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25.5%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217920" y="1865376"/>
            <a:ext cx="2788920" cy="3474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19019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customer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7754112" y="1901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8357616" y="19019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19.3%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217920" y="2231136"/>
            <a:ext cx="2788920" cy="34747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309360" y="22677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no atendido &gt;1min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7754112" y="226771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8357616" y="22677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16.4%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217920" y="2596896"/>
            <a:ext cx="2788920" cy="3474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09360" y="26334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floor &gt;3min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7754112" y="26334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8357616" y="26334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1.0%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217920" y="2962656"/>
            <a:ext cx="2788920" cy="34747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309360" y="29992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Complaining customer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7754112" y="2999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8357616" y="29992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6217920" y="3328416"/>
            <a:ext cx="2788920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309360" y="33284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CE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7223760" y="332841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927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8366760" y="332841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2 — Reduce Costs: desglose por alerta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701 alertas = 35.8% de notificaciones · Alertas de caja, comportamiento y apertura/cierre de tienda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944368" cy="32918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móvil/calc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822960"/>
            <a:ext cx="822960" cy="329184"/>
          </a:xfrm>
          <a:prstGeom prst="rect">
            <a:avLst/>
          </a:prstGeom>
          <a:solidFill>
            <a:srgbClr val="A02060"/>
          </a:solidFill>
          <a:ln w="12700">
            <a:solidFill>
              <a:srgbClr val="A02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98064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28.7%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LOMAS VERDES (9.0%)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DQ PORTAL CENTRO (9.0%)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4592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DQ ARAGON (4.5%)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DQ TOWN SQUARE (4.5%)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4592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DQ ALAMEDA (4.0%)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55264" y="822960"/>
            <a:ext cx="2944368" cy="32918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fuera caja &gt;1min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76672" y="822960"/>
            <a:ext cx="822960" cy="329184"/>
          </a:xfrm>
          <a:prstGeom prst="rect">
            <a:avLst/>
          </a:prstGeom>
          <a:solidFill>
            <a:srgbClr val="A02060"/>
          </a:solidFill>
          <a:ln w="12700">
            <a:solidFill>
              <a:srgbClr val="A020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88736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25.4%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55264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LAS AMERICAS (6.7%)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55264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28416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DQ SENDERO TOLUCA (6.2%)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55264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DQ ALAMEDA (5.6%)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55264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28416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DQ JUAREZ (5.1%)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55264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28416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DQ OCEANIA (5.1%)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4592" y="2852928"/>
            <a:ext cx="2944368" cy="32918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drawer open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0" y="2852928"/>
            <a:ext cx="822960" cy="329184"/>
          </a:xfrm>
          <a:prstGeom prst="rect">
            <a:avLst/>
          </a:prstGeom>
          <a:solidFill>
            <a:srgbClr val="A02060"/>
          </a:solidFill>
          <a:ln w="12700">
            <a:solidFill>
              <a:srgbClr val="A020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0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798064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OASIS (13.0%)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64592" y="3511296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7744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DQ VALLEJO (13.0%)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64592" y="382219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DQ ARAGON (9.6%)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64592" y="413308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7744" y="4169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DQ ALAMEDA (7.8%)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64592" y="444398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7744" y="4480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DQ CUICUILCO (7.0%)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55264" y="2852928"/>
            <a:ext cx="2944368" cy="32918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28416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open late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376672" y="2852928"/>
            <a:ext cx="822960" cy="329184"/>
          </a:xfrm>
          <a:prstGeom prst="rect">
            <a:avLst/>
          </a:prstGeom>
          <a:solidFill>
            <a:srgbClr val="A02060"/>
          </a:solidFill>
          <a:ln w="12700">
            <a:solidFill>
              <a:srgbClr val="A0206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76672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888736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55264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28416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GALERIAS T2000 (20.2%)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55264" y="3511296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28416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DQ FORTUNA (16.3%)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55264" y="382219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28416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DQ PATIO REVOLUCION (13.5%)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255264" y="413308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28416" y="4169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DQ GALERIAS ATIZAPAN (9.6%)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255264" y="444398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28416" y="4480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DQ SENTURA (7.7%)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RC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217920" y="1133856"/>
            <a:ext cx="2788920" cy="34518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09360" y="1170432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móvil/calc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7754112" y="1170432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357616" y="1170432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28.7%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217920" y="1497330"/>
            <a:ext cx="2788920" cy="34518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09360" y="1533906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fuera caja &gt;1min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7754112" y="1533906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8357616" y="1533906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25.4%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217920" y="1860804"/>
            <a:ext cx="2788920" cy="34518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1897380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drawer open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7754112" y="1897380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8357616" y="1897380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16.4%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217920" y="2224278"/>
            <a:ext cx="2788920" cy="34518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309360" y="2260854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open late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7754112" y="2260854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8357616" y="2260854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14.8%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217920" y="2587752"/>
            <a:ext cx="2788920" cy="34518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09360" y="2624328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inactivo &gt;5min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7754112" y="2624328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8357616" y="2624328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7.4%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217920" y="2951226"/>
            <a:ext cx="2788920" cy="34518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309360" y="2987802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Playing/fighting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7754112" y="2987802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8357616" y="2987802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4.4%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6217920" y="3314700"/>
            <a:ext cx="2788920" cy="34518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309360" y="3351276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not given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7754112" y="3351276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8357616" y="3351276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1.6%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217920" y="3678174"/>
            <a:ext cx="2788920" cy="34518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309360" y="3714750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not printed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7754112" y="3714750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101" name="Text 99"/>
          <p:cNvSpPr/>
          <p:nvPr/>
        </p:nvSpPr>
        <p:spPr>
          <a:xfrm>
            <a:off x="8357616" y="3714750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0.7%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6217920" y="4041648"/>
            <a:ext cx="2788920" cy="347472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309360" y="40416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RC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7223760" y="40416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701</a:t>
            </a:r>
            <a:endParaRPr lang="en-US" sz="1600" dirty="0"/>
          </a:p>
        </p:txBody>
      </p:sp>
      <p:sp>
        <p:nvSpPr>
          <p:cNvPr id="105" name="Text 103"/>
          <p:cNvSpPr/>
          <p:nvPr/>
        </p:nvSpPr>
        <p:spPr>
          <a:xfrm>
            <a:off x="8366760" y="404164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3 — Operational Compliance: desglose por alerta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331 alertas = 16.9% de notificaciones · Personal inactivo, comportamientos anómalos y falta de cumplimiento SOP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944368" cy="32918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guy waiting &gt;1min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822960"/>
            <a:ext cx="822960" cy="329184"/>
          </a:xfrm>
          <a:prstGeom prst="rect">
            <a:avLst/>
          </a:prstGeom>
          <a:solidFill>
            <a:srgbClr val="2A8080"/>
          </a:solidFill>
          <a:ln w="12700">
            <a:solidFill>
              <a:srgbClr val="2A8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98064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52.3%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PALMIRA (8.1%)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DQ SANTA FE (7.5%)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4592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DQ MANACAR (5.2%)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DQ UNIVERSIDAD (4.6%)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4592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DQ GALERIAS TUXTLA (4.0%)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55264" y="822960"/>
            <a:ext cx="2944368" cy="32918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gorra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76672" y="822960"/>
            <a:ext cx="822960" cy="329184"/>
          </a:xfrm>
          <a:prstGeom prst="rect">
            <a:avLst/>
          </a:prstGeom>
          <a:solidFill>
            <a:srgbClr val="2A8080"/>
          </a:solidFill>
          <a:ln w="12700">
            <a:solidFill>
              <a:srgbClr val="2A8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88736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42.6%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55264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MANACAR (11.3%)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55264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28416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DQ BUENAVISTA (7.8%)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55264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DQ TEPEYAC (7.8%)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55264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28416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DQ ALAMEDA (7.1%)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55264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28416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DQ SAN MIGUEL (5.0%)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4592" y="2852928"/>
            <a:ext cx="2944368" cy="32918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uniforme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0" y="2852928"/>
            <a:ext cx="822960" cy="329184"/>
          </a:xfrm>
          <a:prstGeom prst="rect">
            <a:avLst/>
          </a:prstGeom>
          <a:solidFill>
            <a:srgbClr val="2A8080"/>
          </a:solidFill>
          <a:ln w="12700">
            <a:solidFill>
              <a:srgbClr val="2A80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0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798064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LOMAS VERDES (17.6%)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64592" y="3511296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7744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DQ PARQUE TOREO (11.8%)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64592" y="382219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DQ TLALPAN (11.8%)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64592" y="413308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7744" y="4169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DQ 27 DE FEBRERO (5.9%)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64592" y="444398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7744" y="4480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DQ COATZACOALCOS (5.9%)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CO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17920" y="1133856"/>
            <a:ext cx="2788920" cy="3474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11704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guy waiting &gt;1min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754112" y="11704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8357616" y="11704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52.3%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217920" y="1499616"/>
            <a:ext cx="2788920" cy="34747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09360" y="15361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gorra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7754112" y="15361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8357616" y="15361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42.6%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217920" y="1865376"/>
            <a:ext cx="2788920" cy="3474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09360" y="19019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uniforme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754112" y="1901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8357616" y="19019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5.1%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217920" y="2231136"/>
            <a:ext cx="2788920" cy="347472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09360" y="22311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7223760" y="22311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331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366760" y="223113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🏍️  Delivery — Waiting Time &amp; Alertas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= alertas de repartidores a domicilio · Waiting Time desde que llega hasta recibir pedido · 58 tiendas con datos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194560" cy="2651760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4592" y="914400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avg.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" y="1517904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2:05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64592" y="22311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· grupo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822960"/>
            <a:ext cx="6537960" cy="27432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822960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TIEMPOS DE ESPERA — DELIVERY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60320" y="113385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29584" y="1207008"/>
            <a:ext cx="2709184" cy="18288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113385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65.84%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29584" y="140817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entregas dentro del umbral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60320" y="163677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3 min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529584" y="1709928"/>
            <a:ext cx="527106" cy="1828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16367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12.81%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529584" y="19110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rango intermedio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60320" y="213969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 min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529584" y="2212848"/>
            <a:ext cx="878510" cy="1828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213969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21.35%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529584" y="24140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umbral crítico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468880" y="2688336"/>
            <a:ext cx="6537960" cy="329184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2715768"/>
            <a:ext cx="6382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Insight: </a:t>
            </a:r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Mejor: DQ TOWN SQUARE (0:41) · Peor: DQ SAN ANGEL (5:07)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4592" y="2505456"/>
            <a:ext cx="2194560" cy="201168"/>
          </a:xfrm>
          <a:prstGeom prst="rect">
            <a:avLst/>
          </a:prstGeom>
          <a:solidFill>
            <a:srgbClr val="5A3080"/>
          </a:solidFill>
          <a:ln w="12700">
            <a:solidFill>
              <a:srgbClr val="5A3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4592" y="25054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64592" y="2724912"/>
            <a:ext cx="2194560" cy="219456"/>
          </a:xfrm>
          <a:prstGeom prst="rect">
            <a:avLst/>
          </a:prstGeom>
          <a:solidFill>
            <a:srgbClr val="4A2870"/>
          </a:solidFill>
          <a:ln w="12700">
            <a:solidFill>
              <a:srgbClr val="4A28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" y="2752344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guy waiting &gt;1min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682496" y="275234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4592" y="2962656"/>
            <a:ext cx="2194560" cy="219456"/>
          </a:xfrm>
          <a:prstGeom prst="rect">
            <a:avLst/>
          </a:prstGeom>
          <a:solidFill>
            <a:srgbClr val="4A2870"/>
          </a:solidFill>
          <a:ln w="12700">
            <a:solidFill>
              <a:srgbClr val="4A287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7744" y="2990088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packaging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682496" y="29900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64592" y="3310128"/>
            <a:ext cx="4389120" cy="25603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4592" y="33101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TOP 3 MEJORES — Menor espera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64592" y="3593592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64592" y="3593592"/>
            <a:ext cx="365760" cy="4572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4592" y="35935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85216" y="36667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TOWN SQUARE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364992" y="364845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0:41</a:t>
            </a:r>
            <a:endParaRPr lang="en-US" sz="2200" dirty="0"/>
          </a:p>
        </p:txBody>
      </p:sp>
      <p:sp>
        <p:nvSpPr>
          <p:cNvPr id="43" name="Shape 41"/>
          <p:cNvSpPr/>
          <p:nvPr/>
        </p:nvSpPr>
        <p:spPr>
          <a:xfrm>
            <a:off x="164592" y="4032504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64592" y="4032504"/>
            <a:ext cx="365760" cy="4572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4592" y="40325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85216" y="41056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PORTAL CENTRO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364992" y="408736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0:43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164592" y="4471416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64592" y="4471416"/>
            <a:ext cx="365760" cy="4572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64592" y="44714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85216" y="45445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PARQUE TOREO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364992" y="452628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0:53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4681728" y="3310128"/>
            <a:ext cx="4389120" cy="25603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81728" y="33101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TOP 3 PEORES — Mayor espera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681728" y="3593592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81728" y="3593592"/>
            <a:ext cx="365760" cy="457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81728" y="35935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5102352" y="366674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SAN ANGEL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7607808" y="364845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5:07</a:t>
            </a:r>
            <a:endParaRPr lang="en-US" sz="2200" dirty="0"/>
          </a:p>
        </p:txBody>
      </p:sp>
      <p:sp>
        <p:nvSpPr>
          <p:cNvPr id="60" name="Shape 58"/>
          <p:cNvSpPr/>
          <p:nvPr/>
        </p:nvSpPr>
        <p:spPr>
          <a:xfrm>
            <a:off x="4681728" y="4032504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81728" y="4032504"/>
            <a:ext cx="365760" cy="457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81728" y="40325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5102352" y="410565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PLAZA REAL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607808" y="408736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4:13</a:t>
            </a:r>
            <a:endParaRPr lang="en-US" sz="2200" dirty="0"/>
          </a:p>
        </p:txBody>
      </p:sp>
      <p:sp>
        <p:nvSpPr>
          <p:cNvPr id="65" name="Shape 63"/>
          <p:cNvSpPr/>
          <p:nvPr/>
        </p:nvSpPr>
        <p:spPr>
          <a:xfrm>
            <a:off x="4681728" y="4471416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681728" y="4471416"/>
            <a:ext cx="365760" cy="457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81728" y="44714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5102352" y="454456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PALENQUE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7607808" y="452628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4:09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Drive Thru — Alertas Operativas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alertas Drive Thru = 0.0% del total de alertas del grupo · Todas las alertas [D] son exclusivas de las estaciones de Drive Thru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41248"/>
            <a:ext cx="2103120" cy="402336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" y="84124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Staff usando PIN pad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9456" y="106070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alertas  --  del total DT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64592" y="1261872"/>
            <a:ext cx="2103120" cy="219456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" y="1261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627632" y="12618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tipo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377440" y="841248"/>
            <a:ext cx="2103120" cy="402336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32304" y="84124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Staff fuera caja &gt;1min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32304" y="106070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alertas  --  del total DT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377440" y="1261872"/>
            <a:ext cx="2103120" cy="219456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50592" y="1261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840480" y="12618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tipo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90288" y="841248"/>
            <a:ext cx="2103120" cy="40233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84124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Cash drawer open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45152" y="106070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alertas  --  del total DT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90288" y="1261872"/>
            <a:ext cx="2103120" cy="219456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261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053328" y="12618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tipo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03136" y="841248"/>
            <a:ext cx="2103120" cy="402336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84124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Staff móvil/calc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0" y="106070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alertas  --  del total DT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803136" y="1261872"/>
            <a:ext cx="2103120" cy="219456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76288" y="1261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66176" y="12618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tipo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64592" y="3566160"/>
            <a:ext cx="8778240" cy="2743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566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Receipt not delivered: 0 alertas (-- del total DT)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64592" y="3877056"/>
            <a:ext cx="8778240" cy="256032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4592" y="387705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CLAVE — DRIVE THRU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56032" y="416966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PIN pad misuse [D]: 0 alertas (-- del total DT) — uso del PIN pad del cliente por parte del staff, riesgo de seguridad financiera.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56032" y="4425696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Sin concentración de alertas DT significativa en este grupo.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56032" y="46817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Staff fuera de caja &gt;1min [D]: 0 eventos — impacta directamente en los tiempos de espera de Drive Thru.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Cam Check — Análisis de Conectividad de Cámaras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alertas Cam Check en 43 tiendas · Una tienda con fallos de cámara puede registrar menos alertas sin que ello refleje mejor performance operativa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651760" cy="2743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822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FALLO DE CÁMARA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4592" y="1115568"/>
            <a:ext cx="2651760" cy="9144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4592" y="1143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64592" y="16916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Cam Check totales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" y="19202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tiendas afectadas de 62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4592" y="2157984"/>
            <a:ext cx="2651760" cy="2743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2368296"/>
            <a:ext cx="164592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21945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Connection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68880" y="219456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4592" y="2450592"/>
            <a:ext cx="2651760" cy="2743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2660904"/>
            <a:ext cx="54864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4871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Blurry Image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68880" y="248716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4592" y="4297680"/>
            <a:ext cx="2651760" cy="548640"/>
          </a:xfrm>
          <a:prstGeom prst="rect">
            <a:avLst/>
          </a:prstGeom>
          <a:solidFill>
            <a:srgbClr val="3A2800"/>
          </a:solidFill>
          <a:ln w="10160">
            <a:solidFill>
              <a:srgbClr val="E8A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432511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Ojo: </a:t>
            </a:r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 con muchos fallos de cámara pueden mostrar menos alertas KBP, lo que NO indica mejor performance — los datos son incompletos.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944368" y="822960"/>
            <a:ext cx="6053328" cy="2743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44368" y="822960"/>
            <a:ext cx="605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 CON ALERTAS CAM CHECK — POSICIÓN EN RANKING GENERAL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944368" y="1115568"/>
            <a:ext cx="6053328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11155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31536" y="1115568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998464" y="11155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583680" y="111556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242048" y="111556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936992" y="11155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944368" y="1371600"/>
            <a:ext cx="6053328" cy="23774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0" y="13898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ARAGON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31536" y="138988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98464" y="13898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83680" y="138988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242048" y="13898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/ 62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936992" y="13898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Revisar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944368" y="1627632"/>
            <a:ext cx="6053328" cy="237744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0" y="1645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BUGAMBILIA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31536" y="164592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98464" y="1645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583680" y="16459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242048" y="164592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#52 / 62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936992" y="16459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Revisar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944368" y="1883664"/>
            <a:ext cx="6053328" cy="23774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17520" y="19019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GALERIAS TUXTLA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431536" y="190195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998464" y="1901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583680" y="190195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242048" y="190195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#53 / 62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936992" y="19019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Revisar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944368" y="2139696"/>
            <a:ext cx="6053328" cy="237744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17520" y="21579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LAS AMERICAS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431536" y="215798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998464" y="21579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583680" y="215798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242048" y="21579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#17 / 62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936992" y="21579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Revisar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944368" y="2395728"/>
            <a:ext cx="6053328" cy="23774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017520" y="24140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PALENQUE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431536" y="241401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998464" y="2414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583680" y="2414016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242048" y="241401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#38 / 62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936992" y="24140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Revisar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944368" y="2651760"/>
            <a:ext cx="6053328" cy="237744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017520" y="2670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AMBAR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431536" y="267004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998464" y="26700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583680" y="267004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242048" y="26700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#40 / 62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936992" y="2670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Monit.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944368" y="2907792"/>
            <a:ext cx="6053328" cy="23774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017520" y="29260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COATZACOALCOS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31536" y="292608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998464" y="29260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583680" y="292608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7242048" y="29260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#36 / 62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7936992" y="29260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Monit.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2944368" y="3163824"/>
            <a:ext cx="6053328" cy="237744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017520" y="31821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COMITAN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5431536" y="318211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5998464" y="31821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583680" y="318211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7242048" y="31821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#48 / 62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7936992" y="31821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Monit.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2944368" y="3419856"/>
            <a:ext cx="6053328" cy="23774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017520" y="34381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CRYSTAL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5431536" y="343814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5998464" y="34381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6583680" y="343814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7242048" y="34381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#37 / 62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7936992" y="34381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Monit.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2944368" y="3675888"/>
            <a:ext cx="6053328" cy="237744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017520" y="3694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JUAREZ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5431536" y="3694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5998464" y="36941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583680" y="3694176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7242048" y="36941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#29 / 62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7936992" y="36941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Monit.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2944368" y="3931920"/>
            <a:ext cx="6053328" cy="23774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017520" y="39502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MANACAR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5431536" y="395020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5998464" y="39502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6583680" y="395020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7242048" y="39502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/ 62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7936992" y="39502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Monit.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2944368" y="4187952"/>
            <a:ext cx="6053328" cy="237744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017520" y="42062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MINATITLAN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5431536" y="420624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5998464" y="4206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6583680" y="420624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7242048" y="42062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#49 / 62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7936992" y="42062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Monit.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2944368" y="4443984"/>
            <a:ext cx="6053328" cy="23774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017520" y="44622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OASIS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5431536" y="446227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5998464" y="44622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583680" y="446227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  <p:sp>
        <p:nvSpPr>
          <p:cNvPr id="122" name="Text 120"/>
          <p:cNvSpPr/>
          <p:nvPr/>
        </p:nvSpPr>
        <p:spPr>
          <a:xfrm>
            <a:off x="7242048" y="44622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/ 62</a:t>
            </a:r>
            <a:endParaRPr lang="en-US" sz="900" dirty="0"/>
          </a:p>
        </p:txBody>
      </p:sp>
      <p:sp>
        <p:nvSpPr>
          <p:cNvPr id="123" name="Text 121"/>
          <p:cNvSpPr/>
          <p:nvPr/>
        </p:nvSpPr>
        <p:spPr>
          <a:xfrm>
            <a:off x="7936992" y="44622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Monit.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2944368" y="4700016"/>
            <a:ext cx="6053328" cy="237744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017520" y="47183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TAPACHULA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5431536" y="471830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5998464" y="47183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128" name="Text 126"/>
          <p:cNvSpPr/>
          <p:nvPr/>
        </p:nvSpPr>
        <p:spPr>
          <a:xfrm>
            <a:off x="6583680" y="471830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7242048" y="471830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#39 / 62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7936992" y="47183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Monit.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Dairy Queen México — Zamabrands — Abril 2026</dc:title>
  <dc:subject>PptxGenJS Presentation</dc:subject>
  <dc:creator>PptxGenJS</dc:creator>
  <cp:lastModifiedBy>PptxGenJS</cp:lastModifiedBy>
  <cp:revision>1</cp:revision>
  <dcterms:created xsi:type="dcterms:W3CDTF">2026-05-20T19:52:09Z</dcterms:created>
  <dcterms:modified xsi:type="dcterms:W3CDTF">2026-05-20T19:52:09Z</dcterms:modified>
</cp:coreProperties>
</file>