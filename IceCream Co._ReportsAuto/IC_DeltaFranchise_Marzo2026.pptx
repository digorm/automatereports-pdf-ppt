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"/>
            <a:ext cx="3474720" cy="3474720"/>
          </a:xfrm>
          <a:prstGeom prst="ellipse">
            <a:avLst/>
          </a:prstGeom>
          <a:solidFill>
            <a:srgbClr val="163040"/>
          </a:solidFill>
          <a:ln w="12700">
            <a:solidFill>
              <a:srgbClr val="163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Yedda.ai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del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11480" y="2651760"/>
            <a:ext cx="274320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651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MENSUAL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21868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Queen México — Peninsula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39136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4206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tiendas activas · DA07QUMX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773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www.yedda.ai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Mensual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58368"/>
            <a:ext cx="2743200" cy="132588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" y="685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377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64592" y="1463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este mes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658368"/>
            <a:ext cx="65836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6583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47.7%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30752" y="6766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30752" y="9144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914400"/>
            <a:ext cx="1177656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1115568"/>
            <a:ext cx="658368" cy="36576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11155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30752" y="1133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30752" y="13716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0752" y="1371600"/>
            <a:ext cx="1054212" cy="7315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1572768"/>
            <a:ext cx="658368" cy="36576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5727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30752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Compliance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30752" y="18288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0752" y="1828800"/>
            <a:ext cx="234544" cy="7315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084832"/>
            <a:ext cx="3127248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208483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TIPOS DE ALERTA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4592" y="23957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0" y="2450592"/>
            <a:ext cx="658368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2395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4592" y="28529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11680" y="2907792"/>
            <a:ext cx="639557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28529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4592" y="33101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usando móvil (caja)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011680" y="3364992"/>
            <a:ext cx="310373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33101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64592" y="37673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11680" y="3822192"/>
            <a:ext cx="291563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37673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64592" y="42245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close sooner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011680" y="4279392"/>
            <a:ext cx="291563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0" y="42245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01568" y="2084832"/>
            <a:ext cx="2706624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01568" y="208483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TIENDAS CON MÁS ALERTAS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75888" y="24140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75888" y="24140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224528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75888" y="28712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75888" y="28712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11.9%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224528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46241 DQ Playa Centro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75888" y="33284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75888" y="33284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224528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45637 DQ Playa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75888" y="37856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75888" y="3785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224528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71801 DQ Navah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75888" y="42428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75888" y="42428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224528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46174 DQ Kabah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17920" y="658368"/>
            <a:ext cx="2788920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6583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SERVICIO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217920" y="96926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 avg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217920" y="1115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3:53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6217920" y="1371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 caja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607808" y="96926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607808" y="1115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1:18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7607808" y="1371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pedido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217920" y="14447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Time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217920" y="15910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1:29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6217920" y="184708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cola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7607808" y="14447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Time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607808" y="15910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1:58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7607808" y="184708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recepción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217920" y="192024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Wait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217920" y="20665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6217920" y="232257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delivery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7607808" y="192024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Cam Check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607808" y="20665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7607808" y="232257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cámara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217920" y="2432304"/>
            <a:ext cx="2788920" cy="256032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24323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Y PEOR TIENDA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217920" y="2706624"/>
            <a:ext cx="2788920" cy="51206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09360" y="27432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alertas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309360" y="29077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46175 DQ Huayacan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772400" y="27797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2400" dirty="0"/>
          </a:p>
        </p:txBody>
      </p:sp>
      <p:sp>
        <p:nvSpPr>
          <p:cNvPr id="85" name="Shape 83"/>
          <p:cNvSpPr/>
          <p:nvPr/>
        </p:nvSpPr>
        <p:spPr>
          <a:xfrm>
            <a:off x="6217920" y="3255264"/>
            <a:ext cx="2788920" cy="51206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309360" y="32918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alertas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309360" y="3456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7772400" y="3328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2400" dirty="0"/>
          </a:p>
        </p:txBody>
      </p:sp>
      <p:sp>
        <p:nvSpPr>
          <p:cNvPr id="89" name="Shape 87"/>
          <p:cNvSpPr/>
          <p:nvPr/>
        </p:nvSpPr>
        <p:spPr>
          <a:xfrm>
            <a:off x="6217920" y="3822192"/>
            <a:ext cx="2788920" cy="256032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17920" y="38221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 — DESTACADOS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217920" y="4096512"/>
            <a:ext cx="1371600" cy="8046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17920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Más rápida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217920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217920" y="4553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1:01 min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7607808" y="4096512"/>
            <a:ext cx="1371600" cy="8046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607808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Más lenta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607808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46174 DQ Kabah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7607808" y="4553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1:42 min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Tiendas por KBP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40080"/>
            <a:ext cx="212140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1 — CUSTOMER EXPERIENCE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180 alertas 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" y="1060704"/>
            <a:ext cx="2121408" cy="7315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45637 DQ Playa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64592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46241 DQ Playa Centro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17.2%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64592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71801 DQ Navah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15.0%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64592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6032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12.2%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64592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6032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76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71721 DQ AV 135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2377440" y="640080"/>
            <a:ext cx="2121408" cy="36576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2 — REDUCE COSTS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377440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161 alertas RC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377440" y="1060704"/>
            <a:ext cx="2121408" cy="73152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468880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706624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68880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18.6%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2377440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468880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706624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46175 DQ Huayacan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68880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2377440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468880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706624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45361 DQ Torrecillas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68880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377440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468880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706624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46174 DQ Kabah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68880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2377440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468880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2706624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71721 DQ AV 135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468880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9.9%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4590288" y="640080"/>
            <a:ext cx="2121408" cy="36576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0288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3 — OPER. COMPLIANCE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90288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36 alertas CO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90288" y="1060704"/>
            <a:ext cx="2121408" cy="73152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681728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919472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44865 DQ Xcaret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681728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</a:t>
            </a:r>
            <a:endParaRPr lang="en-US" sz="2200" dirty="0"/>
          </a:p>
        </p:txBody>
      </p:sp>
      <p:sp>
        <p:nvSpPr>
          <p:cNvPr id="60" name="Shape 58"/>
          <p:cNvSpPr/>
          <p:nvPr/>
        </p:nvSpPr>
        <p:spPr>
          <a:xfrm>
            <a:off x="4590288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681728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919472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46174 DQ Kabah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681728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2200" dirty="0"/>
          </a:p>
        </p:txBody>
      </p:sp>
      <p:sp>
        <p:nvSpPr>
          <p:cNvPr id="64" name="Shape 62"/>
          <p:cNvSpPr/>
          <p:nvPr/>
        </p:nvSpPr>
        <p:spPr>
          <a:xfrm>
            <a:off x="4590288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681728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919472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45361 DQ Torrecillas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681728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</a:t>
            </a:r>
            <a:endParaRPr lang="en-US" sz="2200" dirty="0"/>
          </a:p>
        </p:txBody>
      </p:sp>
      <p:sp>
        <p:nvSpPr>
          <p:cNvPr id="68" name="Shape 66"/>
          <p:cNvSpPr/>
          <p:nvPr/>
        </p:nvSpPr>
        <p:spPr>
          <a:xfrm>
            <a:off x="4590288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681728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919472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71721 DQ AV 135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681728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</a:t>
            </a:r>
            <a:endParaRPr lang="en-US" sz="2200" dirty="0"/>
          </a:p>
        </p:txBody>
      </p:sp>
      <p:sp>
        <p:nvSpPr>
          <p:cNvPr id="72" name="Shape 70"/>
          <p:cNvSpPr/>
          <p:nvPr/>
        </p:nvSpPr>
        <p:spPr>
          <a:xfrm>
            <a:off x="4590288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681728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919472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45637 DQ Playa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681728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2200" dirty="0"/>
          </a:p>
        </p:txBody>
      </p:sp>
      <p:sp>
        <p:nvSpPr>
          <p:cNvPr id="76" name="Shape 74"/>
          <p:cNvSpPr/>
          <p:nvPr/>
        </p:nvSpPr>
        <p:spPr>
          <a:xfrm>
            <a:off x="6803136" y="640080"/>
            <a:ext cx="2121408" cy="365760"/>
          </a:xfrm>
          <a:prstGeom prst="rect">
            <a:avLst/>
          </a:prstGeom>
          <a:solidFill>
            <a:srgbClr val="2DC6C6"/>
          </a:solidFill>
          <a:ln w="12700">
            <a:solidFill>
              <a:srgbClr val="2DC6C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03136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 — VELOCIDAD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803136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t. pedido más rápido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803136" y="1060704"/>
            <a:ext cx="2121408" cy="731520"/>
          </a:xfrm>
          <a:prstGeom prst="rect">
            <a:avLst/>
          </a:prstGeom>
          <a:solidFill>
            <a:srgbClr val="2DC6C6"/>
          </a:solidFill>
          <a:ln w="12700">
            <a:solidFill>
              <a:srgbClr val="2DC6C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894576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132320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894576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1:01</a:t>
            </a:r>
            <a:endParaRPr lang="en-US" sz="2200" dirty="0"/>
          </a:p>
        </p:txBody>
      </p:sp>
      <p:sp>
        <p:nvSpPr>
          <p:cNvPr id="83" name="Shape 81"/>
          <p:cNvSpPr/>
          <p:nvPr/>
        </p:nvSpPr>
        <p:spPr>
          <a:xfrm>
            <a:off x="6803136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6894576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132320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45361 DQ Torrecillas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894576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1:05</a:t>
            </a:r>
            <a:endParaRPr lang="en-US" sz="2200" dirty="0"/>
          </a:p>
        </p:txBody>
      </p:sp>
      <p:sp>
        <p:nvSpPr>
          <p:cNvPr id="87" name="Shape 85"/>
          <p:cNvSpPr/>
          <p:nvPr/>
        </p:nvSpPr>
        <p:spPr>
          <a:xfrm>
            <a:off x="6803136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6894576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7132320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46175 DQ Huayacan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894576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1:08</a:t>
            </a:r>
            <a:endParaRPr lang="en-US" sz="2200" dirty="0"/>
          </a:p>
        </p:txBody>
      </p:sp>
      <p:sp>
        <p:nvSpPr>
          <p:cNvPr id="91" name="Shape 89"/>
          <p:cNvSpPr/>
          <p:nvPr/>
        </p:nvSpPr>
        <p:spPr>
          <a:xfrm>
            <a:off x="6803136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6894576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713232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71801 DQ Navah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894576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1:08</a:t>
            </a:r>
            <a:endParaRPr lang="en-US" sz="2200" dirty="0"/>
          </a:p>
        </p:txBody>
      </p:sp>
      <p:sp>
        <p:nvSpPr>
          <p:cNvPr id="95" name="Shape 93"/>
          <p:cNvSpPr/>
          <p:nvPr/>
        </p:nvSpPr>
        <p:spPr>
          <a:xfrm>
            <a:off x="6803136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6894576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7132320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46241 DQ Playa Centro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6894576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1:19</a:t>
            </a:r>
            <a:endParaRPr lang="en-US" sz="2200" dirty="0"/>
          </a:p>
        </p:txBody>
      </p:sp>
      <p:sp>
        <p:nvSpPr>
          <p:cNvPr id="99" name="Text 97"/>
          <p:cNvSpPr/>
          <p:nvPr/>
        </p:nvSpPr>
        <p:spPr>
          <a:xfrm>
            <a:off x="164592" y="484632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377 notificaciones totales · 9 tiendas activas · 01 – 31 Marzo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Alertas por Área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59436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alertas clasificadas por área · 377 alertas KBP · 9 tiendas activas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Cashier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93392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registradora y atención en mostrador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502152" y="822960"/>
            <a:ext cx="100584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8229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42232" y="822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64.8%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" y="122529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225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90672" y="12252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85032" y="12252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4592" y="14447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627632"/>
            <a:ext cx="4572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1444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90672" y="1444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85032" y="14447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4592" y="171907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901952"/>
            <a:ext cx="444137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17190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90672" y="1719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85032" y="1719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" y="199339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2176272"/>
            <a:ext cx="215537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19933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 (caja)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90672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85032" y="1993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" y="226771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2450592"/>
            <a:ext cx="169817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22677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90672" y="22677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85032" y="2267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54203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2724912"/>
            <a:ext cx="202474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2542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atendido &gt;1min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90672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85032" y="2542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45152" y="82296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All Store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73952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Comportamientos en toda la tienda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982712" y="822960"/>
            <a:ext cx="1005840" cy="38404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82712" y="8229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622792" y="822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45152" y="122529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1225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571232" y="12252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165592" y="12252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45152" y="14447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18304" y="1627632"/>
            <a:ext cx="457200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1444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571232" y="1444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165592" y="14447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45152" y="171907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18304" y="1901952"/>
            <a:ext cx="386862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36592" y="17190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571232" y="1719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165592" y="1719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45152" y="199339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18304" y="2176272"/>
            <a:ext cx="422031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36592" y="19933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open late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571232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165592" y="1993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45152" y="226771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18304" y="2450592"/>
            <a:ext cx="597877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36592" y="22677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inactivo &gt;5min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571232" y="22677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165592" y="2267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17.7%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645152" y="254203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18304" y="2724912"/>
            <a:ext cx="316523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36592" y="2542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Playing/fighting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571232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165592" y="2542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64592" y="292608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6032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 Delivery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1993392" y="2926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repartidores a domicilio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502152" y="2926080"/>
            <a:ext cx="1005840" cy="384048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502152" y="2926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4142232" y="2926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64592" y="332841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6032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090672" y="33284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3685032" y="3328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64592" y="354787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37744" y="3730752"/>
            <a:ext cx="457200" cy="4572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56032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waiting &gt;1min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090672" y="35478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3685032" y="35478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645152" y="292608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736592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 Thru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6473952" y="2926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exclusivas de Drive Thru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7982712" y="2926080"/>
            <a:ext cx="1005840" cy="384048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982712" y="2926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8622792" y="2926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645152" y="332841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736592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7571232" y="33284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8165592" y="3328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645152" y="354787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18304" y="373075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36592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pad misuse [D]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7571232" y="35478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8165592" y="35478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4645152" y="382219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18304" y="4005072"/>
            <a:ext cx="914400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736592" y="38221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[D]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7571232" y="38221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8165592" y="38221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645152" y="409651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718304" y="427939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736592" y="40965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 [D]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7571232" y="4096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8165592" y="40965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645152" y="437083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718304" y="455371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736592" y="43708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 [D]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7571232" y="43708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8165592" y="43708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645152" y="46451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18304" y="482803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736592" y="46451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not given [D]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7571232" y="46451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8165592" y="4645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Servicio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40080"/>
            <a:ext cx="2103120" cy="34747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3:53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3:53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64592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4592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4592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46175 DQ Huayacan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2336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4592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45361 DQ Torrecillas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2336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3:20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4592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64592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4592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2336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45637 DQ Playa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02336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4:43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64592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4592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02336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46174 DQ Kabah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02336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4:39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64592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02336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44865 DQ Xcaret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02336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4:24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331720" y="640080"/>
            <a:ext cx="21031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331720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1:18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31720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1:18</a:t>
            </a:r>
            <a:endParaRPr lang="en-US" sz="3800" dirty="0"/>
          </a:p>
        </p:txBody>
      </p:sp>
      <p:sp>
        <p:nvSpPr>
          <p:cNvPr id="50" name="Text 48"/>
          <p:cNvSpPr/>
          <p:nvPr/>
        </p:nvSpPr>
        <p:spPr>
          <a:xfrm>
            <a:off x="2331720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331720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31720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331720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31720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31720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569464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569464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1:01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331720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31720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31720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569464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45361 DQ Torrecillas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569464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1:05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331720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31720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31720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569464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46175 DQ Huayacan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569464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1:08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331720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31720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331720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31720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31720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2569464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46174 DQ Kabah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569464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1:42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331720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31720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31720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2569464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44865 DQ Xcaret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569464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1:31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2331720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331720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331720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2569464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71721 DQ AV 135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569464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1:28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4498848" y="640080"/>
            <a:ext cx="2103120" cy="3474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98848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Time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498848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1:29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498848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1:29</a:t>
            </a:r>
            <a:endParaRPr lang="en-US" sz="3800" dirty="0"/>
          </a:p>
        </p:txBody>
      </p:sp>
      <p:sp>
        <p:nvSpPr>
          <p:cNvPr id="89" name="Text 87"/>
          <p:cNvSpPr/>
          <p:nvPr/>
        </p:nvSpPr>
        <p:spPr>
          <a:xfrm>
            <a:off x="4498848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498848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98848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498848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498848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498848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73659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4736592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1:05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4498848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498848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98848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4736592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45361 DQ Torrecillas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4736592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1:06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498848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498848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498848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4736592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46175 DQ Huayacan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4736592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1:13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4498848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498848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498848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498848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498848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4736592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45637 DQ Playa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4736592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2:12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4498848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498848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498848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4736592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46174 DQ Kabah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4736592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1:51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4498848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498848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498848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4736592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71801 DQ Navah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4736592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1:29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6665976" y="640080"/>
            <a:ext cx="21031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665976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Time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6665976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1:58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665976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1:58</a:t>
            </a:r>
            <a:endParaRPr lang="en-US" sz="3800" dirty="0"/>
          </a:p>
        </p:txBody>
      </p:sp>
      <p:sp>
        <p:nvSpPr>
          <p:cNvPr id="128" name="Text 126"/>
          <p:cNvSpPr/>
          <p:nvPr/>
        </p:nvSpPr>
        <p:spPr>
          <a:xfrm>
            <a:off x="6665976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6665976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665976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6665976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665976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665976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4" name="Text 132"/>
          <p:cNvSpPr/>
          <p:nvPr/>
        </p:nvSpPr>
        <p:spPr>
          <a:xfrm>
            <a:off x="6903720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46175 DQ Huayacan</a:t>
            </a:r>
            <a:endParaRPr lang="en-US" sz="850" dirty="0"/>
          </a:p>
        </p:txBody>
      </p:sp>
      <p:sp>
        <p:nvSpPr>
          <p:cNvPr id="135" name="Text 133"/>
          <p:cNvSpPr/>
          <p:nvPr/>
        </p:nvSpPr>
        <p:spPr>
          <a:xfrm>
            <a:off x="6903720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6665976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665976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665976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6903720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6903720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1:26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6665976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665976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665976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4" name="Text 142"/>
          <p:cNvSpPr/>
          <p:nvPr/>
        </p:nvSpPr>
        <p:spPr>
          <a:xfrm>
            <a:off x="6903720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45361 DQ Torrecillas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6903720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1:51</a:t>
            </a:r>
            <a:endParaRPr lang="en-US" sz="1200" dirty="0"/>
          </a:p>
        </p:txBody>
      </p:sp>
      <p:sp>
        <p:nvSpPr>
          <p:cNvPr id="146" name="Shape 144"/>
          <p:cNvSpPr/>
          <p:nvPr/>
        </p:nvSpPr>
        <p:spPr>
          <a:xfrm>
            <a:off x="6665976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665976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6665976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665976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665976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1" name="Text 149"/>
          <p:cNvSpPr/>
          <p:nvPr/>
        </p:nvSpPr>
        <p:spPr>
          <a:xfrm>
            <a:off x="6903720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46174 DQ Kabah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6903720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2:22</a:t>
            </a:r>
            <a:endParaRPr lang="en-US" sz="1200" dirty="0"/>
          </a:p>
        </p:txBody>
      </p:sp>
      <p:sp>
        <p:nvSpPr>
          <p:cNvPr id="153" name="Shape 151"/>
          <p:cNvSpPr/>
          <p:nvPr/>
        </p:nvSpPr>
        <p:spPr>
          <a:xfrm>
            <a:off x="6665976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665976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65976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6" name="Text 154"/>
          <p:cNvSpPr/>
          <p:nvPr/>
        </p:nvSpPr>
        <p:spPr>
          <a:xfrm>
            <a:off x="6903720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44865 DQ Xcaret</a:t>
            </a:r>
            <a:endParaRPr lang="en-US" sz="850" dirty="0"/>
          </a:p>
        </p:txBody>
      </p:sp>
      <p:sp>
        <p:nvSpPr>
          <p:cNvPr id="157" name="Text 155"/>
          <p:cNvSpPr/>
          <p:nvPr/>
        </p:nvSpPr>
        <p:spPr>
          <a:xfrm>
            <a:off x="6903720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2:22</a:t>
            </a:r>
            <a:endParaRPr lang="en-US" sz="1200" dirty="0"/>
          </a:p>
        </p:txBody>
      </p:sp>
      <p:sp>
        <p:nvSpPr>
          <p:cNvPr id="158" name="Shape 156"/>
          <p:cNvSpPr/>
          <p:nvPr/>
        </p:nvSpPr>
        <p:spPr>
          <a:xfrm>
            <a:off x="6665976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665976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665976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1" name="Text 159"/>
          <p:cNvSpPr/>
          <p:nvPr/>
        </p:nvSpPr>
        <p:spPr>
          <a:xfrm>
            <a:off x="6903720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45637 DQ Playa</a:t>
            </a:r>
            <a:endParaRPr lang="en-US" sz="850" dirty="0"/>
          </a:p>
        </p:txBody>
      </p:sp>
      <p:sp>
        <p:nvSpPr>
          <p:cNvPr id="162" name="Text 160"/>
          <p:cNvSpPr/>
          <p:nvPr/>
        </p:nvSpPr>
        <p:spPr>
          <a:xfrm>
            <a:off x="6903720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1 — Customer Experience: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alertas = 47.7% de notificaciones · Cashier Area es el principal foco de Customer Experience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38.9%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45637 DQ Playa (22.9%)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44865 DQ Xcaret (14.3%)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71721 DQ AV 135 (14.3%)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71801 DQ Navah (12.9%)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46174 DQ Kabah (10.0%)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37.8%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45637 DQ Playa (22.1%)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46241 DQ Playa Centro (20.6%)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71801 DQ Navah (19.1%)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71977 DQ Americas (19.1%)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45361 DQ Torrecillas (7.4%)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46241 DQ Playa Centro (29.0%)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71801 DQ Navah (16.1%)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46174 DQ Kabah (12.9%)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45361 DQ Torrecillas (9.7%)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46175 DQ Huayacan (9.7%)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55264" y="2852928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28416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76672" y="2852928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888736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55264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71977 DQ Americas (27.3%)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55264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28416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45637 DQ Playa (18.2%)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55264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28416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46241 DQ Playa Centro (18.2%)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55264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28416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71721 DQ AV 135 (18.2%)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55264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28416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45361 DQ Torrecillas (9.1%)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217920" y="113385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1170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754112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57616" y="11704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38.9%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149961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754112" y="1536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357616" y="15361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37.8%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217920" y="186537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754112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357616" y="1901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17920" y="223113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09360" y="2267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754112" y="22677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357616" y="2267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217920" y="2596896"/>
            <a:ext cx="278892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9360" y="25968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CE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223760" y="2596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8366760" y="259689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2 — Reduce Costs: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alertas = 42.7% de notificaciones · Alertas de caja, comportamiento y apertura/cierre de tienda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móvil/calc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45361 DQ Torrecillas (33.3%)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46175 DQ Huayacan (30.3%)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71977 DQ Americas (24.2%)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71721 DQ AV 135 (9.1%)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44865 DQ Xcaret (3.0%)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close sooner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46175 DQ Huayacan (16.1%)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45361 DQ Torrecillas (12.9%)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45637 DQ Playa (12.9%)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71721 DQ AV 135 (12.9%)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71801 DQ Navah (12.9%)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46175 DQ Huayacan (30.8%)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46174 DQ Kabah (26.9%)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46241 DQ Playa Centro (19.2%)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45361 DQ Torrecillas (7.7%)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44865 DQ Xcaret (3.8%)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55264" y="2852928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28416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76672" y="2852928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888736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55264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46174 DQ Kabah (33.3%)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55264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28416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71801 DQ Navah (22.2%)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55264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28416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71977 DQ Americas (16.7%)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55264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28416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46175 DQ Huayacan (11.1%)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55264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28416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44865 DQ Xcaret (5.6%)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RC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217920" y="1133856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1170432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móvil/calc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754112" y="1170432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57616" y="1170432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1497330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1533906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close sooner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754112" y="1533906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357616" y="1533906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217920" y="1860804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1897380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754112" y="1897380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357616" y="1897380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17920" y="2224278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09360" y="2260854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754112" y="2260854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357616" y="2260854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217920" y="2587752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9360" y="2624328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inactivo &gt;5min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754112" y="2624328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8357616" y="2624328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217920" y="2951226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09360" y="2987802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open late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754112" y="2987802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357616" y="2987802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217920" y="3314700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09360" y="3351276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not given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7754112" y="3351276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8357616" y="3351276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217920" y="3678174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309360" y="3714750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Playing/fighting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7754112" y="3714750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8357616" y="3714750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6217920" y="4041648"/>
            <a:ext cx="2788920" cy="34747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09360" y="40416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RC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7223760" y="4041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8366760" y="404164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3 — Operational Compliance: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alertas = 9.5% de notificaciones · Personal inactivo, comportamientos anómalos y falta de cumplimiento SOP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44865 DQ Xcaret (35.0%)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45361 DQ Torrecillas (20.0%)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45637 DQ Playa (15.0%)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46174 DQ Kabah (15.0%)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46241 DQ Playa Centro (5.0%)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36.1%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44865 DQ Xcaret (23.1%)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46174 DQ Kabah (23.1%)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71977 DQ Americas (23.1%)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46241 DQ Playa Centro (15.4%)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71721 DQ AV 135 (15.4%)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uniforme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44865 DQ Xcaret (66.7%)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71721 DQ AV 135 (33.3%)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17920" y="113385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1170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754112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357616" y="11704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17920" y="149961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754112" y="1536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357616" y="15361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36.1%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17920" y="186537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uniforme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754112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357616" y="1901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17920" y="2231136"/>
            <a:ext cx="27889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22311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223760" y="22311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66760" y="223113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 Delivery — Waiting Time &amp; Alertas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= alertas de repartidores a domicilio · Waiting Time desde que llega hasta recibir pedido · 8 tiendas con datos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194560" cy="265176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" y="914400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avg.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" y="151790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64592" y="22311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· grupo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6537960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82296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TIEMPOS DE ESPERA — DELIVERY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11338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29584" y="1207008"/>
            <a:ext cx="91440" cy="1828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1338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9584" y="14081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entregas dentro del umbral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16367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3 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29584" y="1709928"/>
            <a:ext cx="91440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16367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29584" y="19110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rango intermedio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60320" y="21396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29584" y="2212848"/>
            <a:ext cx="91440" cy="182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21396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529584" y="24140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umbral crítico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68880" y="2688336"/>
            <a:ext cx="6537960" cy="32918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2715768"/>
            <a:ext cx="6382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Insight: </a:t>
            </a:r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Mejor: 46174 DQ Kabah (0:41) · Peor: 44865 DQ Xcaret (2:21)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" y="2505456"/>
            <a:ext cx="2194560" cy="201168"/>
          </a:xfrm>
          <a:prstGeom prst="rect">
            <a:avLst/>
          </a:prstGeom>
          <a:solidFill>
            <a:srgbClr val="5A3080"/>
          </a:solidFill>
          <a:ln w="12700">
            <a:solidFill>
              <a:srgbClr val="5A3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" y="25054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64592" y="2724912"/>
            <a:ext cx="2194560" cy="219456"/>
          </a:xfrm>
          <a:prstGeom prst="rect">
            <a:avLst/>
          </a:prstGeom>
          <a:solidFill>
            <a:srgbClr val="4A2870"/>
          </a:solidFill>
          <a:ln w="12700">
            <a:solidFill>
              <a:srgbClr val="4A28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" y="275234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82496" y="27523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" y="3310128"/>
            <a:ext cx="4389120" cy="2560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4592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TOP 3 MEJORES — Menor espera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64592" y="3593592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4592" y="3593592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4592" y="3593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5216" y="36667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46174 DQ Kabah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364992" y="36484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0:41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164592" y="4032504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4592" y="4032504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4592" y="40325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85216" y="4105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45361 DQ Torrecillas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364992" y="40873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0:43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164592" y="4471416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4592" y="4471416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4592" y="4471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85216" y="4544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71801 DQ Navah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364992" y="45262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0:59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4681728" y="3310128"/>
            <a:ext cx="4389120" cy="2560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TOP 3 PEORES — Mayor espera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81728" y="3593592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81728" y="3593592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81728" y="3593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102352" y="36667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44865 DQ Xcaret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607808" y="36484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2:21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4681728" y="4032504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81728" y="4032504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81728" y="40325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102352" y="41056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71721 DQ AV 135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607808" y="40873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4681728" y="4471416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81728" y="4471416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81728" y="4471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5102352" y="45445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46241 DQ Playa Centro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607808" y="45262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1:32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 Thru — Alertas Operativas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alertas Drive Thru = 0.5% del total de alertas del grupo · Todas las alertas [D] son exclusivas de las estaciones de Drive Thru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41248"/>
            <a:ext cx="2103120" cy="402336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usando PIN pad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alertas  0.0%  del total DT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64592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27632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77440" y="841248"/>
            <a:ext cx="2103120" cy="402336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2304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fuera caja &gt;1min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32304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alertas  100.0%  del total DT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377440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40480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377440" y="1499616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50592" y="1801368"/>
            <a:ext cx="1371600" cy="5486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0592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44865 DQ Xcaret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0" y="15544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90288" y="841248"/>
            <a:ext cx="2103120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Cash drawer open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45152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alertas  0.0%  del total DT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90288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53328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803136" y="841248"/>
            <a:ext cx="2103120" cy="402336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móvil/calc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alertas  0.0%  del total DT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03136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66176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64592" y="3566160"/>
            <a:ext cx="8778240" cy="2743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66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Receipt not delivered: 0 alertas (0.0% del total DT)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64592" y="3877056"/>
            <a:ext cx="8778240" cy="256032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" y="38770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CLAVE — DRIVE THRU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6032" y="416966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PIN pad misuse [D]: 0 alertas (0.0% del total DT) — uso del PIN pad del cliente por parte del staff, riesgo de seguridad financiera.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6032" y="442569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Sin concentración de alertas DT significativa en este grupo.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6032" y="46817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Staff fuera de caja &gt;1min [D]: 2 eventos — impacta directamente en los tiempos de espera de Drive Thru.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Cam Check — Análisis de Conectividad de Cámaras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alertas Cam Check en 8 tiendas · Una tienda con fallos de cámara puede registrar menos alertas sin que ello refleje mejor performance operativa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651760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822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FALLO DE CÁMARA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" y="1115568"/>
            <a:ext cx="2651760" cy="9144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64592" y="1691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Cam Check totales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" y="19202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tiendas afectadas de 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" y="2157984"/>
            <a:ext cx="2651760" cy="2743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368296"/>
            <a:ext cx="164592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194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Connection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68880" y="219456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2450592"/>
            <a:ext cx="2651760" cy="2743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660904"/>
            <a:ext cx="1346662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487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 Image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68880" y="248716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" y="2743200"/>
            <a:ext cx="2651760" cy="2743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2953512"/>
            <a:ext cx="448887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27797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Obstructed Camera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68880" y="277977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" y="4297680"/>
            <a:ext cx="2651760" cy="548640"/>
          </a:xfrm>
          <a:prstGeom prst="rect">
            <a:avLst/>
          </a:prstGeom>
          <a:solidFill>
            <a:srgbClr val="3A2800"/>
          </a:solidFill>
          <a:ln w="1016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43251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Ojo: </a:t>
            </a:r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con muchos fallos de cámara pueden mostrar menos alertas KBP, lo que NO indica mejor performance — los datos son incompletos.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944368" y="822960"/>
            <a:ext cx="6053328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44368" y="822960"/>
            <a:ext cx="605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CON ALERTAS CAM CHECK — POSICIÓN EN RANKING GENERAL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44368" y="1115568"/>
            <a:ext cx="6053328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11155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431536" y="111556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98464" y="1115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583680" y="111556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242048" y="11155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936992" y="1115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944368" y="1371600"/>
            <a:ext cx="6053328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13898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46174 DQ Kabah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31536" y="13898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98464" y="13898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83680" y="138988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42048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/ 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936992" y="1389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944368" y="1645920"/>
            <a:ext cx="6053328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0" y="1664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45637 DQ Playa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31536" y="166420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98464" y="16642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83680" y="166420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42048" y="16642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/ 9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936992" y="16642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Revisar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944368" y="1920240"/>
            <a:ext cx="6053328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17520" y="1938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71721 DQ AV 135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431536" y="193852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998464" y="1938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583680" y="19385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242048" y="19385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/ 9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936992" y="1938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Revisar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944368" y="2194560"/>
            <a:ext cx="6053328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17520" y="22128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71801 DQ Navah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431536" y="221284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998464" y="22128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583680" y="221284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242048" y="22128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/ 9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936992" y="2212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Revisar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944368" y="2468880"/>
            <a:ext cx="6053328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17520" y="2487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44865 DQ Xcaret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24871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998464" y="24871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583680" y="248716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242048" y="24871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/ 9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936992" y="2487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944368" y="2743200"/>
            <a:ext cx="6053328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017520" y="2761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46241 DQ Playa Centro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27614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998464" y="2761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583680" y="276148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242048" y="27614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/ 9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936992" y="27614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944368" y="3017520"/>
            <a:ext cx="6053328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017520" y="30358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46175 DQ Huayacan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431536" y="303580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998464" y="30358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583680" y="303580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242048" y="30358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 / 9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936992" y="30358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944368" y="3291840"/>
            <a:ext cx="6053328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017520" y="33101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71977 DQ Americas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431536" y="331012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5998464" y="33101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583680" y="33101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7242048" y="33101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/ 9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7936992" y="33101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Dairy Queen México — Peninsula — Marzo 2026</dc:title>
  <dc:subject>PptxGenJS Presentation</dc:subject>
  <dc:creator>PptxGenJS</dc:creator>
  <cp:lastModifiedBy>PptxGenJS</cp:lastModifiedBy>
  <cp:revision>1</cp:revision>
  <dcterms:created xsi:type="dcterms:W3CDTF">2026-05-20T20:34:04Z</dcterms:created>
  <dcterms:modified xsi:type="dcterms:W3CDTF">2026-05-20T20:34:04Z</dcterms:modified>
</cp:coreProperties>
</file>