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82880"/>
            <a:ext cx="3474720" cy="3474720"/>
          </a:xfrm>
          <a:prstGeom prst="ellipse">
            <a:avLst/>
          </a:prstGeom>
          <a:solidFill>
            <a:srgbClr val="163040"/>
          </a:solidFill>
          <a:ln w="12700">
            <a:solidFill>
              <a:srgbClr val="163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Yedda.ai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del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411480" y="2651760"/>
            <a:ext cx="2743200" cy="38404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651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MENSUAL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321868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Queen México — Leva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11480" y="39136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30 Abril 2026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4206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tiendas activas · DA07QUMX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47731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www.yedda.ai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 Mensual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30 Abril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4592" y="658368"/>
            <a:ext cx="2743200" cy="132588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4592" y="685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164592" y="14630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este mes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17520" y="658368"/>
            <a:ext cx="658368" cy="3657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658368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28.7%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30752" y="6766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30752" y="914400"/>
            <a:ext cx="2468880" cy="73152"/>
          </a:xfrm>
          <a:prstGeom prst="rect">
            <a:avLst/>
          </a:prstGeom>
          <a:solidFill>
            <a:srgbClr val="3D5568"/>
          </a:solidFill>
          <a:ln w="12700">
            <a:solidFill>
              <a:srgbClr val="3D55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30752" y="914400"/>
            <a:ext cx="708569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0" y="1115568"/>
            <a:ext cx="658368" cy="365760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0" y="1115568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61.2%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30752" y="11338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Costs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30752" y="1371600"/>
            <a:ext cx="2468880" cy="73152"/>
          </a:xfrm>
          <a:prstGeom prst="rect">
            <a:avLst/>
          </a:prstGeom>
          <a:solidFill>
            <a:srgbClr val="3D5568"/>
          </a:solidFill>
          <a:ln w="12700">
            <a:solidFill>
              <a:srgbClr val="3D556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30752" y="1371600"/>
            <a:ext cx="1510955" cy="73152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17520" y="1572768"/>
            <a:ext cx="658368" cy="365760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1572768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30752" y="15910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Compliance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730752" y="1828800"/>
            <a:ext cx="2468880" cy="73152"/>
          </a:xfrm>
          <a:prstGeom prst="rect">
            <a:avLst/>
          </a:prstGeom>
          <a:solidFill>
            <a:srgbClr val="3D5568"/>
          </a:solidFill>
          <a:ln w="12700">
            <a:solidFill>
              <a:srgbClr val="3D55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30752" y="1828800"/>
            <a:ext cx="251826" cy="73152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084832"/>
            <a:ext cx="3127248" cy="274320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208483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TIPOS DE ALERTA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64592" y="239572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usando móvil (caja)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011680" y="2450592"/>
            <a:ext cx="658368" cy="118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0" y="2395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15.5%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64592" y="285292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order &gt;3min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011680" y="2907792"/>
            <a:ext cx="474308" cy="118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0" y="28529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11.2%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64592" y="331012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no atendido &gt;1min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011680" y="3364992"/>
            <a:ext cx="453070" cy="118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0" y="33101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10.7%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64592" y="376732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PIN pad misuse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011680" y="3822192"/>
            <a:ext cx="453070" cy="118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0" y="37673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10.7%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64592" y="422452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Staff fuera caja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011680" y="4279392"/>
            <a:ext cx="353961" cy="118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0" y="42245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8.3%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401568" y="2084832"/>
            <a:ext cx="2706624" cy="274320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01568" y="2084832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TIENDAS CON MÁS ALERTAS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75888" y="2414016"/>
            <a:ext cx="50292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75888" y="24140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8.5%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224528" y="2395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Concordia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675888" y="2871216"/>
            <a:ext cx="50292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75888" y="28712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7.7%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224528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Contry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675888" y="3328416"/>
            <a:ext cx="50292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75888" y="33284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224528" y="3310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La puerta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675888" y="3785616"/>
            <a:ext cx="50292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75888" y="37856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7.3%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224528" y="3767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Citadina Escobedo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675888" y="4242816"/>
            <a:ext cx="50292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75888" y="42428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6.8%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224528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Acanto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217920" y="658368"/>
            <a:ext cx="2788920" cy="274320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17920" y="65836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SERVICIO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217920" y="969264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Time avg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217920" y="111556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4:36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6217920" y="1371600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total caja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7607808" y="969264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Time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7607808" y="111556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1:45</a:t>
            </a:r>
            <a:endParaRPr lang="en-US" sz="2200" dirty="0"/>
          </a:p>
        </p:txBody>
      </p:sp>
      <p:sp>
        <p:nvSpPr>
          <p:cNvPr id="66" name="Text 64"/>
          <p:cNvSpPr/>
          <p:nvPr/>
        </p:nvSpPr>
        <p:spPr>
          <a:xfrm>
            <a:off x="7607808" y="1371600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pedido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6217920" y="1444752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Time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6217920" y="1591056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1:11</a:t>
            </a:r>
            <a:endParaRPr lang="en-US" sz="2200" dirty="0"/>
          </a:p>
        </p:txBody>
      </p:sp>
      <p:sp>
        <p:nvSpPr>
          <p:cNvPr id="69" name="Text 67"/>
          <p:cNvSpPr/>
          <p:nvPr/>
        </p:nvSpPr>
        <p:spPr>
          <a:xfrm>
            <a:off x="6217920" y="1847088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en cola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7607808" y="1444752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Time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7607808" y="1591056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1:53</a:t>
            </a:r>
            <a:endParaRPr lang="en-US" sz="2200" dirty="0"/>
          </a:p>
        </p:txBody>
      </p:sp>
      <p:sp>
        <p:nvSpPr>
          <p:cNvPr id="72" name="Text 70"/>
          <p:cNvSpPr/>
          <p:nvPr/>
        </p:nvSpPr>
        <p:spPr>
          <a:xfrm>
            <a:off x="7607808" y="1847088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recepción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6217920" y="1920240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Wait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6217920" y="206654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5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2:24</a:t>
            </a:r>
            <a:endParaRPr lang="en-US" sz="2200" dirty="0"/>
          </a:p>
        </p:txBody>
      </p:sp>
      <p:sp>
        <p:nvSpPr>
          <p:cNvPr id="75" name="Text 73"/>
          <p:cNvSpPr/>
          <p:nvPr/>
        </p:nvSpPr>
        <p:spPr>
          <a:xfrm>
            <a:off x="6217920" y="2322576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 delivery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7607808" y="1920240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Cam Check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7607808" y="206654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200" dirty="0"/>
          </a:p>
        </p:txBody>
      </p:sp>
      <p:sp>
        <p:nvSpPr>
          <p:cNvPr id="78" name="Text 76"/>
          <p:cNvSpPr/>
          <p:nvPr/>
        </p:nvSpPr>
        <p:spPr>
          <a:xfrm>
            <a:off x="7607808" y="2322576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de cámara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6217920" y="2432304"/>
            <a:ext cx="2788920" cy="256032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217920" y="243230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Y PEOR TIENDA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6217920" y="2706624"/>
            <a:ext cx="2788920" cy="512064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309360" y="274320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alertas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6309360" y="29077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Rivera del Sol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7772400" y="277977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4.5%</a:t>
            </a:r>
            <a:endParaRPr lang="en-US" sz="2400" dirty="0"/>
          </a:p>
        </p:txBody>
      </p:sp>
      <p:sp>
        <p:nvSpPr>
          <p:cNvPr id="85" name="Shape 83"/>
          <p:cNvSpPr/>
          <p:nvPr/>
        </p:nvSpPr>
        <p:spPr>
          <a:xfrm>
            <a:off x="6217920" y="3255264"/>
            <a:ext cx="2788920" cy="512064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309360" y="329184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alertas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6309360" y="34564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Concordia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7772400" y="33284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8.5%</a:t>
            </a:r>
            <a:endParaRPr lang="en-US" sz="2400" dirty="0"/>
          </a:p>
        </p:txBody>
      </p:sp>
      <p:sp>
        <p:nvSpPr>
          <p:cNvPr id="89" name="Shape 87"/>
          <p:cNvSpPr/>
          <p:nvPr/>
        </p:nvSpPr>
        <p:spPr>
          <a:xfrm>
            <a:off x="6217920" y="3822192"/>
            <a:ext cx="2788920" cy="256032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217920" y="382219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TIME — DESTACADOS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6217920" y="4096512"/>
            <a:ext cx="1371600" cy="80467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217920" y="41148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Más rápida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6217920" y="42976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Valle alto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6217920" y="45537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1:05 min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7607808" y="4096512"/>
            <a:ext cx="1371600" cy="80467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607808" y="41148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🐌 Más lenta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7607808" y="42976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Kune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7607808" y="45537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2:22 min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Tiendas por KBP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30 Abril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4592" y="640080"/>
            <a:ext cx="2121408" cy="3657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64008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 1 — CUSTOMER EXPERIENCE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64592" y="841248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sobre 172 alertas CE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64592" y="1060704"/>
            <a:ext cx="2121408" cy="7315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" y="113385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" y="1115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Citadina Escobedo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" y="14081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64592" y="1847088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6032" y="19202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" y="1901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El Jaral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" y="21945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8.1%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64592" y="2633472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56032" y="270662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3776" y="26883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Romulo Garza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6032" y="29809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8.1%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64592" y="3419856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56032" y="349300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3776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Arcos del Poniente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6032" y="37673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7.6%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64592" y="4206240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56032" y="427939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3776" y="42611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Acanto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56032" y="45537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7.0%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2377440" y="640080"/>
            <a:ext cx="2121408" cy="365760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7440" y="64008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 2 — REDUCE COSTS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377440" y="841248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sobre 367 alertas RC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377440" y="1060704"/>
            <a:ext cx="2121408" cy="731520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468880" y="113385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706624" y="1115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Concordia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468880" y="14081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9.8%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2377440" y="1847088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468880" y="19202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2706624" y="1901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La puerta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468880" y="21945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9.5%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2377440" y="2633472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468880" y="270662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2706624" y="26883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Contry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468880" y="29809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9.0%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2377440" y="3419856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468880" y="349300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2706624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Citadina Escobedo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468880" y="37673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7.6%</a:t>
            </a:r>
            <a:endParaRPr lang="en-US" sz="2200" dirty="0"/>
          </a:p>
        </p:txBody>
      </p:sp>
      <p:sp>
        <p:nvSpPr>
          <p:cNvPr id="49" name="Shape 47"/>
          <p:cNvSpPr/>
          <p:nvPr/>
        </p:nvSpPr>
        <p:spPr>
          <a:xfrm>
            <a:off x="2377440" y="4206240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2468880" y="427939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2706624" y="42611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Las Torres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468880" y="45537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7.4%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4590288" y="640080"/>
            <a:ext cx="2121408" cy="365760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90288" y="64008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 3 — OPER. COMPLIANCE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590288" y="841248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sobre 61 alertas CO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590288" y="1060704"/>
            <a:ext cx="2121408" cy="731520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4681728" y="113385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4919472" y="1115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Acanto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681728" y="14081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21.3%</a:t>
            </a:r>
            <a:endParaRPr lang="en-US" sz="2200" dirty="0"/>
          </a:p>
        </p:txBody>
      </p:sp>
      <p:sp>
        <p:nvSpPr>
          <p:cNvPr id="60" name="Shape 58"/>
          <p:cNvSpPr/>
          <p:nvPr/>
        </p:nvSpPr>
        <p:spPr>
          <a:xfrm>
            <a:off x="4590288" y="1847088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4681728" y="19202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4919472" y="1901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Kune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681728" y="21945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19.7%</a:t>
            </a:r>
            <a:endParaRPr lang="en-US" sz="2200" dirty="0"/>
          </a:p>
        </p:txBody>
      </p:sp>
      <p:sp>
        <p:nvSpPr>
          <p:cNvPr id="64" name="Shape 62"/>
          <p:cNvSpPr/>
          <p:nvPr/>
        </p:nvSpPr>
        <p:spPr>
          <a:xfrm>
            <a:off x="4590288" y="2633472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4681728" y="270662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4919472" y="26883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Valle alto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681728" y="29809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11.5%</a:t>
            </a:r>
            <a:endParaRPr lang="en-US" sz="2200" dirty="0"/>
          </a:p>
        </p:txBody>
      </p:sp>
      <p:sp>
        <p:nvSpPr>
          <p:cNvPr id="68" name="Shape 66"/>
          <p:cNvSpPr/>
          <p:nvPr/>
        </p:nvSpPr>
        <p:spPr>
          <a:xfrm>
            <a:off x="4590288" y="3419856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4681728" y="349300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4919472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Contry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4681728" y="37673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8.2%</a:t>
            </a:r>
            <a:endParaRPr lang="en-US" sz="2200" dirty="0"/>
          </a:p>
        </p:txBody>
      </p:sp>
      <p:sp>
        <p:nvSpPr>
          <p:cNvPr id="72" name="Shape 70"/>
          <p:cNvSpPr/>
          <p:nvPr/>
        </p:nvSpPr>
        <p:spPr>
          <a:xfrm>
            <a:off x="4590288" y="4206240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4681728" y="427939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4919472" y="42611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Concordia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4681728" y="45537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6.6%</a:t>
            </a:r>
            <a:endParaRPr lang="en-US" sz="2200" dirty="0"/>
          </a:p>
        </p:txBody>
      </p:sp>
      <p:sp>
        <p:nvSpPr>
          <p:cNvPr id="76" name="Shape 74"/>
          <p:cNvSpPr/>
          <p:nvPr/>
        </p:nvSpPr>
        <p:spPr>
          <a:xfrm>
            <a:off x="6803136" y="640080"/>
            <a:ext cx="2121408" cy="365760"/>
          </a:xfrm>
          <a:prstGeom prst="rect">
            <a:avLst/>
          </a:prstGeom>
          <a:solidFill>
            <a:srgbClr val="2DC6C6"/>
          </a:solidFill>
          <a:ln w="12700">
            <a:solidFill>
              <a:srgbClr val="2DC6C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803136" y="64008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TIME — VELOCIDAD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6803136" y="841248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t. pedido más rápido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6803136" y="1060704"/>
            <a:ext cx="2121408" cy="731520"/>
          </a:xfrm>
          <a:prstGeom prst="rect">
            <a:avLst/>
          </a:prstGeom>
          <a:solidFill>
            <a:srgbClr val="2DC6C6"/>
          </a:solidFill>
          <a:ln w="12700">
            <a:solidFill>
              <a:srgbClr val="2DC6C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6894576" y="113385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7132320" y="1115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Valle alto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6894576" y="14081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1:05</a:t>
            </a:r>
            <a:endParaRPr lang="en-US" sz="2200" dirty="0"/>
          </a:p>
        </p:txBody>
      </p:sp>
      <p:sp>
        <p:nvSpPr>
          <p:cNvPr id="83" name="Shape 81"/>
          <p:cNvSpPr/>
          <p:nvPr/>
        </p:nvSpPr>
        <p:spPr>
          <a:xfrm>
            <a:off x="6803136" y="1847088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6894576" y="19202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7132320" y="1901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Cumbres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6894576" y="21945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1:21</a:t>
            </a:r>
            <a:endParaRPr lang="en-US" sz="2200" dirty="0"/>
          </a:p>
        </p:txBody>
      </p:sp>
      <p:sp>
        <p:nvSpPr>
          <p:cNvPr id="87" name="Shape 85"/>
          <p:cNvSpPr/>
          <p:nvPr/>
        </p:nvSpPr>
        <p:spPr>
          <a:xfrm>
            <a:off x="6803136" y="2633472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88" name="Text 86"/>
          <p:cNvSpPr/>
          <p:nvPr/>
        </p:nvSpPr>
        <p:spPr>
          <a:xfrm>
            <a:off x="6894576" y="270662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7132320" y="26883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San Jeronimo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6894576" y="29809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1:26</a:t>
            </a:r>
            <a:endParaRPr lang="en-US" sz="2200" dirty="0"/>
          </a:p>
        </p:txBody>
      </p:sp>
      <p:sp>
        <p:nvSpPr>
          <p:cNvPr id="91" name="Shape 89"/>
          <p:cNvSpPr/>
          <p:nvPr/>
        </p:nvSpPr>
        <p:spPr>
          <a:xfrm>
            <a:off x="6803136" y="3419856"/>
            <a:ext cx="2121408" cy="7315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92" name="Text 90"/>
          <p:cNvSpPr/>
          <p:nvPr/>
        </p:nvSpPr>
        <p:spPr>
          <a:xfrm>
            <a:off x="6894576" y="349300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93" name="Text 91"/>
          <p:cNvSpPr/>
          <p:nvPr/>
        </p:nvSpPr>
        <p:spPr>
          <a:xfrm>
            <a:off x="7132320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Contry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6894576" y="37673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1:32</a:t>
            </a:r>
            <a:endParaRPr lang="en-US" sz="2200" dirty="0"/>
          </a:p>
        </p:txBody>
      </p:sp>
      <p:sp>
        <p:nvSpPr>
          <p:cNvPr id="95" name="Shape 93"/>
          <p:cNvSpPr/>
          <p:nvPr/>
        </p:nvSpPr>
        <p:spPr>
          <a:xfrm>
            <a:off x="6803136" y="4206240"/>
            <a:ext cx="2121408" cy="7315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96" name="Text 94"/>
          <p:cNvSpPr/>
          <p:nvPr/>
        </p:nvSpPr>
        <p:spPr>
          <a:xfrm>
            <a:off x="6894576" y="427939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97" name="Text 95"/>
          <p:cNvSpPr/>
          <p:nvPr/>
        </p:nvSpPr>
        <p:spPr>
          <a:xfrm>
            <a:off x="7132320" y="42611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Israel Cavazos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6894576" y="45537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1:32</a:t>
            </a:r>
            <a:endParaRPr lang="en-US" sz="2200" dirty="0"/>
          </a:p>
        </p:txBody>
      </p:sp>
      <p:sp>
        <p:nvSpPr>
          <p:cNvPr id="99" name="Text 97"/>
          <p:cNvSpPr/>
          <p:nvPr/>
        </p:nvSpPr>
        <p:spPr>
          <a:xfrm>
            <a:off x="164592" y="4846320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sobre 600 notificaciones totales · 17 tiendas activas · 01 – 30 Abril 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Alertas por Área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30 Abril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594360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622 alertas clasificadas por área · 600 alertas KBP · 17 tiendas activas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822960"/>
            <a:ext cx="4343400" cy="38404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22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Cashier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93392" y="8229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registradora y atención en mostrador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502152" y="822960"/>
            <a:ext cx="1005840" cy="38404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02152" y="8229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358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42232" y="8229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57.6%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4592" y="1225296"/>
            <a:ext cx="4343400" cy="20116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12252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Alerta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090672" y="12252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685032" y="12252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64592" y="144475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" y="1627632"/>
            <a:ext cx="4572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144475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order &gt;3min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090672" y="14447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85032" y="144475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64592" y="1719072"/>
            <a:ext cx="4343400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" y="1901952"/>
            <a:ext cx="272955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171907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personas en fila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090672" y="17190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85032" y="1719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64592" y="199339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7744" y="2176272"/>
            <a:ext cx="634621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199339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móvil (caja)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090672" y="199339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85032" y="19933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26.0%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64592" y="2267712"/>
            <a:ext cx="4343400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7744" y="2450592"/>
            <a:ext cx="156949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032" y="226771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fuera caja &gt;1min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090672" y="226771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85032" y="226771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64592" y="254203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7744" y="2724912"/>
            <a:ext cx="436728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6032" y="254203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atendido &gt;1min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090672" y="25420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85032" y="25420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17.9%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45152" y="822960"/>
            <a:ext cx="4343400" cy="38404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36592" y="822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All Store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473952" y="8229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Comportamientos en toda la tienda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982712" y="822960"/>
            <a:ext cx="1005840" cy="384048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82712" y="8229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8622792" y="8229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11.7%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645152" y="1225296"/>
            <a:ext cx="4343400" cy="20116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36592" y="12252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Alerta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571232" y="12252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165592" y="12252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645152" y="144475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18304" y="1627632"/>
            <a:ext cx="457200" cy="4572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36592" y="144475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sin gorra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571232" y="14447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165592" y="144475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38.4%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645152" y="1719072"/>
            <a:ext cx="4343400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18304" y="1901952"/>
            <a:ext cx="36576" cy="4572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36592" y="171907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customer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571232" y="17190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165592" y="1719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645152" y="199339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718304" y="2176272"/>
            <a:ext cx="36576" cy="4572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36592" y="199339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open late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571232" y="199339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165592" y="19933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645152" y="2267712"/>
            <a:ext cx="4343400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18304" y="2450592"/>
            <a:ext cx="261257" cy="4572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36592" y="226771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inactivo &gt;5min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7571232" y="226771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8165592" y="226771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21.9%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645152" y="254203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718304" y="2724912"/>
            <a:ext cx="163286" cy="4572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736592" y="254203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Playing/fighting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7571232" y="25420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8165592" y="25420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13.7%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164592" y="2926080"/>
            <a:ext cx="4343400" cy="38404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56032" y="2926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🏍️  Delivery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1993392" y="29260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repartidores a domicilio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3502152" y="2926080"/>
            <a:ext cx="1005840" cy="384048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502152" y="292608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800" dirty="0"/>
          </a:p>
        </p:txBody>
      </p:sp>
      <p:sp>
        <p:nvSpPr>
          <p:cNvPr id="83" name="Text 81"/>
          <p:cNvSpPr/>
          <p:nvPr/>
        </p:nvSpPr>
        <p:spPr>
          <a:xfrm>
            <a:off x="4142232" y="29260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2.4%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164592" y="3328416"/>
            <a:ext cx="4343400" cy="20116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56032" y="33284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Alerta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3090672" y="33284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3685032" y="33284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164592" y="354787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37744" y="3730752"/>
            <a:ext cx="457200" cy="45720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56032" y="354787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waiting &gt;1min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3090672" y="35478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B5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3685032" y="35478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4645152" y="2926080"/>
            <a:ext cx="4343400" cy="38404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736592" y="2926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Drive Thru</a:t>
            </a:r>
            <a:endParaRPr lang="en-US" sz="1300" dirty="0"/>
          </a:p>
        </p:txBody>
      </p:sp>
      <p:sp>
        <p:nvSpPr>
          <p:cNvPr id="95" name="Text 93"/>
          <p:cNvSpPr/>
          <p:nvPr/>
        </p:nvSpPr>
        <p:spPr>
          <a:xfrm>
            <a:off x="6473952" y="29260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exclusivas de Drive Thru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7982712" y="2926080"/>
            <a:ext cx="1005840" cy="384048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982712" y="292608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</a:t>
            </a:r>
            <a:endParaRPr lang="en-US" sz="1800" dirty="0"/>
          </a:p>
        </p:txBody>
      </p:sp>
      <p:sp>
        <p:nvSpPr>
          <p:cNvPr id="98" name="Text 96"/>
          <p:cNvSpPr/>
          <p:nvPr/>
        </p:nvSpPr>
        <p:spPr>
          <a:xfrm>
            <a:off x="8622792" y="29260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24.8%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4645152" y="3328416"/>
            <a:ext cx="4343400" cy="20116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736592" y="33284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Alerta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7571232" y="33284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8165592" y="33284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4645152" y="354787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718304" y="3730752"/>
            <a:ext cx="457200" cy="45720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36592" y="354787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pad misuse [D]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7571232" y="35478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000" dirty="0"/>
          </a:p>
        </p:txBody>
      </p:sp>
      <p:sp>
        <p:nvSpPr>
          <p:cNvPr id="107" name="Text 105"/>
          <p:cNvSpPr/>
          <p:nvPr/>
        </p:nvSpPr>
        <p:spPr>
          <a:xfrm>
            <a:off x="8165592" y="35478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41.6%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4645152" y="3822192"/>
            <a:ext cx="4343400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718304" y="4005072"/>
            <a:ext cx="357188" cy="45720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736592" y="382219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fuera caja [D]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7571232" y="382219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112" name="Text 110"/>
          <p:cNvSpPr/>
          <p:nvPr/>
        </p:nvSpPr>
        <p:spPr>
          <a:xfrm>
            <a:off x="8165592" y="38221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32.5%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4645152" y="409651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718304" y="4279392"/>
            <a:ext cx="92869" cy="45720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736592" y="409651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drawer open [D]</a:t>
            </a:r>
            <a:endParaRPr lang="en-US" sz="900" dirty="0"/>
          </a:p>
        </p:txBody>
      </p:sp>
      <p:sp>
        <p:nvSpPr>
          <p:cNvPr id="116" name="Text 114"/>
          <p:cNvSpPr/>
          <p:nvPr/>
        </p:nvSpPr>
        <p:spPr>
          <a:xfrm>
            <a:off x="7571232" y="409651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17" name="Text 115"/>
          <p:cNvSpPr/>
          <p:nvPr/>
        </p:nvSpPr>
        <p:spPr>
          <a:xfrm>
            <a:off x="8165592" y="409651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8.4%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4645152" y="4370832"/>
            <a:ext cx="4343400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718304" y="4553712"/>
            <a:ext cx="107156" cy="45720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736592" y="437083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móvil [D]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7571232" y="43708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22" name="Text 120"/>
          <p:cNvSpPr/>
          <p:nvPr/>
        </p:nvSpPr>
        <p:spPr>
          <a:xfrm>
            <a:off x="8165592" y="43708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9.7%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4645152" y="4645152"/>
            <a:ext cx="4343400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718304" y="4828032"/>
            <a:ext cx="85725" cy="45720"/>
          </a:xfrm>
          <a:prstGeom prst="rect">
            <a:avLst/>
          </a:prstGeom>
          <a:solidFill>
            <a:srgbClr val="2C7DA0"/>
          </a:solidFill>
          <a:ln w="12700">
            <a:solidFill>
              <a:srgbClr val="2C7DA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736592" y="464515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not given [D]</a:t>
            </a:r>
            <a:endParaRPr lang="en-US" sz="900" dirty="0"/>
          </a:p>
        </p:txBody>
      </p:sp>
      <p:sp>
        <p:nvSpPr>
          <p:cNvPr id="126" name="Text 124"/>
          <p:cNvSpPr/>
          <p:nvPr/>
        </p:nvSpPr>
        <p:spPr>
          <a:xfrm>
            <a:off x="7571232" y="46451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7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27" name="Text 125"/>
          <p:cNvSpPr/>
          <p:nvPr/>
        </p:nvSpPr>
        <p:spPr>
          <a:xfrm>
            <a:off x="8165592" y="464515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7.8%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de Servicio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30 Abril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4592" y="640080"/>
            <a:ext cx="2103120" cy="347472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6400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Time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4592" y="82296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4:36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4592" y="1024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4:36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164592" y="151790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del grupo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64592" y="1719072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" y="17190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MÁS RÁPIDAS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64592" y="1975104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1975104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" y="197510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" y="1993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Valle alto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02336" y="21945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2:33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64592" y="2395728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2395728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" y="239572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2336" y="24140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Las puentes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02336" y="26151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3:49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64592" y="2816352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816352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2816352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02336" y="2834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Cumbres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02336" y="30358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3:55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64592" y="3310128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4592" y="33101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🐌  MÁS LENTAS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64592" y="3566160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4592" y="3566160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4592" y="3566160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02336" y="3584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Kune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02336" y="378561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5:52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64592" y="3986784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64592" y="3986784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4592" y="398678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02336" y="40050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Rivera del Sol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02336" y="42062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5:21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64592" y="4407408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64592" y="4407408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4592" y="440740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02336" y="44256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Romulo Garza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02336" y="46268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5:20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331720" y="640080"/>
            <a:ext cx="2103120" cy="347472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31720" y="6400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Time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331720" y="82296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1:45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331720" y="1024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1:45</a:t>
            </a:r>
            <a:endParaRPr lang="en-US" sz="3800" dirty="0"/>
          </a:p>
        </p:txBody>
      </p:sp>
      <p:sp>
        <p:nvSpPr>
          <p:cNvPr id="50" name="Text 48"/>
          <p:cNvSpPr/>
          <p:nvPr/>
        </p:nvSpPr>
        <p:spPr>
          <a:xfrm>
            <a:off x="2331720" y="151790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del grupo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331720" y="1719072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31720" y="17190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MÁS RÁPIDAS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331720" y="1975104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331720" y="1975104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331720" y="197510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2569464" y="1993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Valle alto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2569464" y="21945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1:05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2331720" y="2395728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31720" y="2395728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331720" y="239572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2569464" y="24140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Cumbres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2569464" y="26151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1:21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2331720" y="2816352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31720" y="2816352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331720" y="2816352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2569464" y="2834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San Jeronimo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2569464" y="30358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1:26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2331720" y="3310128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331720" y="33101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🐌  MÁS LENTAS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331720" y="3566160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31720" y="3566160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331720" y="3566160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2569464" y="3584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Kune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2569464" y="378561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2:22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2331720" y="3986784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331720" y="3986784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331720" y="398678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2569464" y="40050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Rivera del Sol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2569464" y="42062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2:19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2331720" y="4407408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331720" y="4407408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331720" y="440740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2569464" y="44256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Las Torres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2569464" y="46268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2:06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4498848" y="640080"/>
            <a:ext cx="2103120" cy="34747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498848" y="6400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Time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4498848" y="82296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1:11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4498848" y="1024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1:11</a:t>
            </a:r>
            <a:endParaRPr lang="en-US" sz="3800" dirty="0"/>
          </a:p>
        </p:txBody>
      </p:sp>
      <p:sp>
        <p:nvSpPr>
          <p:cNvPr id="89" name="Text 87"/>
          <p:cNvSpPr/>
          <p:nvPr/>
        </p:nvSpPr>
        <p:spPr>
          <a:xfrm>
            <a:off x="4498848" y="151790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del grupo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4498848" y="1719072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498848" y="17190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MÁS RÁPIDAS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4498848" y="1975104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498848" y="1975104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498848" y="197510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4736592" y="1993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Cumbres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4736592" y="21945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0:59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4498848" y="2395728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498848" y="2395728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498848" y="239572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4736592" y="24140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Las puentes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4736592" y="26151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1:01</a:t>
            </a:r>
            <a:endParaRPr 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4498848" y="2816352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498848" y="2816352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498848" y="2816352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4736592" y="2834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San Jeronimo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4736592" y="30358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1:03</a:t>
            </a:r>
            <a:endParaRPr lang="en-US" sz="1200" dirty="0"/>
          </a:p>
        </p:txBody>
      </p:sp>
      <p:sp>
        <p:nvSpPr>
          <p:cNvPr id="107" name="Shape 105"/>
          <p:cNvSpPr/>
          <p:nvPr/>
        </p:nvSpPr>
        <p:spPr>
          <a:xfrm>
            <a:off x="4498848" y="3310128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498848" y="33101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🐌  MÁS LENTAS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4498848" y="3566160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498848" y="3566160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498848" y="3566160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2" name="Text 110"/>
          <p:cNvSpPr/>
          <p:nvPr/>
        </p:nvSpPr>
        <p:spPr>
          <a:xfrm>
            <a:off x="4736592" y="3584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La puerta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4736592" y="378561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1:26</a:t>
            </a:r>
            <a:endParaRPr lang="en-US" sz="1200" dirty="0"/>
          </a:p>
        </p:txBody>
      </p:sp>
      <p:sp>
        <p:nvSpPr>
          <p:cNvPr id="114" name="Shape 112"/>
          <p:cNvSpPr/>
          <p:nvPr/>
        </p:nvSpPr>
        <p:spPr>
          <a:xfrm>
            <a:off x="4498848" y="3986784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498848" y="3986784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498848" y="398678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7" name="Text 115"/>
          <p:cNvSpPr/>
          <p:nvPr/>
        </p:nvSpPr>
        <p:spPr>
          <a:xfrm>
            <a:off x="4736592" y="40050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Kune</a:t>
            </a:r>
            <a:endParaRPr lang="en-US" sz="850" dirty="0"/>
          </a:p>
        </p:txBody>
      </p:sp>
      <p:sp>
        <p:nvSpPr>
          <p:cNvPr id="118" name="Text 116"/>
          <p:cNvSpPr/>
          <p:nvPr/>
        </p:nvSpPr>
        <p:spPr>
          <a:xfrm>
            <a:off x="4736592" y="42062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1:25</a:t>
            </a:r>
            <a:endParaRPr lang="en-US" sz="1200" dirty="0"/>
          </a:p>
        </p:txBody>
      </p:sp>
      <p:sp>
        <p:nvSpPr>
          <p:cNvPr id="119" name="Shape 117"/>
          <p:cNvSpPr/>
          <p:nvPr/>
        </p:nvSpPr>
        <p:spPr>
          <a:xfrm>
            <a:off x="4498848" y="4407408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498848" y="4407408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498848" y="440740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2" name="Text 120"/>
          <p:cNvSpPr/>
          <p:nvPr/>
        </p:nvSpPr>
        <p:spPr>
          <a:xfrm>
            <a:off x="4736592" y="44256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Concordia</a:t>
            </a:r>
            <a:endParaRPr lang="en-US" sz="850" dirty="0"/>
          </a:p>
        </p:txBody>
      </p:sp>
      <p:sp>
        <p:nvSpPr>
          <p:cNvPr id="123" name="Text 121"/>
          <p:cNvSpPr/>
          <p:nvPr/>
        </p:nvSpPr>
        <p:spPr>
          <a:xfrm>
            <a:off x="4736592" y="46268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1:21</a:t>
            </a:r>
            <a:endParaRPr lang="en-US" sz="1200" dirty="0"/>
          </a:p>
        </p:txBody>
      </p:sp>
      <p:sp>
        <p:nvSpPr>
          <p:cNvPr id="124" name="Shape 122"/>
          <p:cNvSpPr/>
          <p:nvPr/>
        </p:nvSpPr>
        <p:spPr>
          <a:xfrm>
            <a:off x="6665976" y="640080"/>
            <a:ext cx="2103120" cy="347472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665976" y="6400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Time</a:t>
            </a:r>
            <a:endParaRPr lang="en-US" sz="1100" dirty="0"/>
          </a:p>
        </p:txBody>
      </p:sp>
      <p:sp>
        <p:nvSpPr>
          <p:cNvPr id="126" name="Text 124"/>
          <p:cNvSpPr/>
          <p:nvPr/>
        </p:nvSpPr>
        <p:spPr>
          <a:xfrm>
            <a:off x="6665976" y="82296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1:53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665976" y="1024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1:53</a:t>
            </a:r>
            <a:endParaRPr lang="en-US" sz="3800" dirty="0"/>
          </a:p>
        </p:txBody>
      </p:sp>
      <p:sp>
        <p:nvSpPr>
          <p:cNvPr id="128" name="Text 126"/>
          <p:cNvSpPr/>
          <p:nvPr/>
        </p:nvSpPr>
        <p:spPr>
          <a:xfrm>
            <a:off x="6665976" y="151790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del grupo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6665976" y="1719072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6665976" y="17190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MÁS RÁPIDAS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6665976" y="1975104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665976" y="1975104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6665976" y="197510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4" name="Text 132"/>
          <p:cNvSpPr/>
          <p:nvPr/>
        </p:nvSpPr>
        <p:spPr>
          <a:xfrm>
            <a:off x="6903720" y="1993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Las puentes</a:t>
            </a:r>
            <a:endParaRPr lang="en-US" sz="850" dirty="0"/>
          </a:p>
        </p:txBody>
      </p:sp>
      <p:sp>
        <p:nvSpPr>
          <p:cNvPr id="135" name="Text 133"/>
          <p:cNvSpPr/>
          <p:nvPr/>
        </p:nvSpPr>
        <p:spPr>
          <a:xfrm>
            <a:off x="6903720" y="21945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1:13</a:t>
            </a:r>
            <a:endParaRPr lang="en-US" sz="1200" dirty="0"/>
          </a:p>
        </p:txBody>
      </p:sp>
      <p:sp>
        <p:nvSpPr>
          <p:cNvPr id="136" name="Shape 134"/>
          <p:cNvSpPr/>
          <p:nvPr/>
        </p:nvSpPr>
        <p:spPr>
          <a:xfrm>
            <a:off x="6665976" y="2395728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665976" y="2395728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6665976" y="239572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9" name="Text 137"/>
          <p:cNvSpPr/>
          <p:nvPr/>
        </p:nvSpPr>
        <p:spPr>
          <a:xfrm>
            <a:off x="6903720" y="24140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Valle alto</a:t>
            </a:r>
            <a:endParaRPr lang="en-US" sz="850" dirty="0"/>
          </a:p>
        </p:txBody>
      </p:sp>
      <p:sp>
        <p:nvSpPr>
          <p:cNvPr id="140" name="Text 138"/>
          <p:cNvSpPr/>
          <p:nvPr/>
        </p:nvSpPr>
        <p:spPr>
          <a:xfrm>
            <a:off x="6903720" y="26151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1:17</a:t>
            </a:r>
            <a:endParaRPr lang="en-US" sz="1200" dirty="0"/>
          </a:p>
        </p:txBody>
      </p:sp>
      <p:sp>
        <p:nvSpPr>
          <p:cNvPr id="141" name="Shape 139"/>
          <p:cNvSpPr/>
          <p:nvPr/>
        </p:nvSpPr>
        <p:spPr>
          <a:xfrm>
            <a:off x="6665976" y="2816352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665976" y="2816352"/>
            <a:ext cx="20116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6665976" y="2816352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4" name="Text 142"/>
          <p:cNvSpPr/>
          <p:nvPr/>
        </p:nvSpPr>
        <p:spPr>
          <a:xfrm>
            <a:off x="6903720" y="2834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Contry</a:t>
            </a:r>
            <a:endParaRPr lang="en-US" sz="850" dirty="0"/>
          </a:p>
        </p:txBody>
      </p:sp>
      <p:sp>
        <p:nvSpPr>
          <p:cNvPr id="145" name="Text 143"/>
          <p:cNvSpPr/>
          <p:nvPr/>
        </p:nvSpPr>
        <p:spPr>
          <a:xfrm>
            <a:off x="6903720" y="30358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1:31</a:t>
            </a:r>
            <a:endParaRPr lang="en-US" sz="1200" dirty="0"/>
          </a:p>
        </p:txBody>
      </p:sp>
      <p:sp>
        <p:nvSpPr>
          <p:cNvPr id="146" name="Shape 144"/>
          <p:cNvSpPr/>
          <p:nvPr/>
        </p:nvSpPr>
        <p:spPr>
          <a:xfrm>
            <a:off x="6665976" y="3310128"/>
            <a:ext cx="2103120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6665976" y="33101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🐌  MÁS LENTAS</a:t>
            </a:r>
            <a:endParaRPr lang="en-US" sz="850" dirty="0"/>
          </a:p>
        </p:txBody>
      </p:sp>
      <p:sp>
        <p:nvSpPr>
          <p:cNvPr id="148" name="Shape 146"/>
          <p:cNvSpPr/>
          <p:nvPr/>
        </p:nvSpPr>
        <p:spPr>
          <a:xfrm>
            <a:off x="6665976" y="3566160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665976" y="3566160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6665976" y="3566160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1" name="Text 149"/>
          <p:cNvSpPr/>
          <p:nvPr/>
        </p:nvSpPr>
        <p:spPr>
          <a:xfrm>
            <a:off x="6903720" y="3584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Romulo Garza</a:t>
            </a:r>
            <a:endParaRPr lang="en-US" sz="850" dirty="0"/>
          </a:p>
        </p:txBody>
      </p:sp>
      <p:sp>
        <p:nvSpPr>
          <p:cNvPr id="152" name="Text 150"/>
          <p:cNvSpPr/>
          <p:nvPr/>
        </p:nvSpPr>
        <p:spPr>
          <a:xfrm>
            <a:off x="6903720" y="378561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2:39</a:t>
            </a:r>
            <a:endParaRPr lang="en-US" sz="1200" dirty="0"/>
          </a:p>
        </p:txBody>
      </p:sp>
      <p:sp>
        <p:nvSpPr>
          <p:cNvPr id="153" name="Shape 151"/>
          <p:cNvSpPr/>
          <p:nvPr/>
        </p:nvSpPr>
        <p:spPr>
          <a:xfrm>
            <a:off x="6665976" y="3986784"/>
            <a:ext cx="2103120" cy="40233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665976" y="3986784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6665976" y="3986784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6" name="Text 154"/>
          <p:cNvSpPr/>
          <p:nvPr/>
        </p:nvSpPr>
        <p:spPr>
          <a:xfrm>
            <a:off x="6903720" y="40050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Kune</a:t>
            </a:r>
            <a:endParaRPr lang="en-US" sz="850" dirty="0"/>
          </a:p>
        </p:txBody>
      </p:sp>
      <p:sp>
        <p:nvSpPr>
          <p:cNvPr id="157" name="Text 155"/>
          <p:cNvSpPr/>
          <p:nvPr/>
        </p:nvSpPr>
        <p:spPr>
          <a:xfrm>
            <a:off x="6903720" y="42062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2:19</a:t>
            </a:r>
            <a:endParaRPr lang="en-US" sz="1200" dirty="0"/>
          </a:p>
        </p:txBody>
      </p:sp>
      <p:sp>
        <p:nvSpPr>
          <p:cNvPr id="158" name="Shape 156"/>
          <p:cNvSpPr/>
          <p:nvPr/>
        </p:nvSpPr>
        <p:spPr>
          <a:xfrm>
            <a:off x="6665976" y="4407408"/>
            <a:ext cx="2103120" cy="40233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665976" y="4407408"/>
            <a:ext cx="201168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6665976" y="4407408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1" name="Text 159"/>
          <p:cNvSpPr/>
          <p:nvPr/>
        </p:nvSpPr>
        <p:spPr>
          <a:xfrm>
            <a:off x="6903720" y="44256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Acanto</a:t>
            </a:r>
            <a:endParaRPr lang="en-US" sz="850" dirty="0"/>
          </a:p>
        </p:txBody>
      </p:sp>
      <p:sp>
        <p:nvSpPr>
          <p:cNvPr id="162" name="Text 160"/>
          <p:cNvSpPr/>
          <p:nvPr/>
        </p:nvSpPr>
        <p:spPr>
          <a:xfrm>
            <a:off x="6903720" y="46268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2:12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 1 — Customer Experience: desglose por alerta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30 Abril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60350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 alertas = 28.7% de notificaciones · Cashier Area es el principal foco de Customer Experience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822960"/>
            <a:ext cx="2944368" cy="32918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" y="82296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order &gt;3min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0" y="822960"/>
            <a:ext cx="822960" cy="329184"/>
          </a:xfrm>
          <a:prstGeom prst="rect">
            <a:avLst/>
          </a:prstGeom>
          <a:solidFill>
            <a:srgbClr val="1A7A70"/>
          </a:solidFill>
          <a:ln w="12700">
            <a:solidFill>
              <a:srgbClr val="1A7A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82296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98064" y="82296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39.0%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4592" y="117043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" y="12070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49 Arcos del Poniente (14.9%)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4592" y="148132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" y="15179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61 Rivera del Sol (11.9%)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64592" y="179222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" y="18288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54 El Jaral (10.4%)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4592" y="2103120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" y="2139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48 Acanto (9.0%)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4592" y="2414016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" y="24505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53 Cumbres (7.5%)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55264" y="822960"/>
            <a:ext cx="2944368" cy="32918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28416" y="82296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no atendido &gt;1min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76672" y="822960"/>
            <a:ext cx="822960" cy="329184"/>
          </a:xfrm>
          <a:prstGeom prst="rect">
            <a:avLst/>
          </a:prstGeom>
          <a:solidFill>
            <a:srgbClr val="1A7A70"/>
          </a:solidFill>
          <a:ln w="12700">
            <a:solidFill>
              <a:srgbClr val="1A7A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76672" y="82296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888736" y="82296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37.2%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55264" y="117043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12070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50 Citadina Escobedo (12.5%)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55264" y="148132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28416" y="15179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62 Romulo Garza (12.5%)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55264" y="179222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28416" y="18288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51 Concordia (9.4%)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55264" y="2103120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28416" y="2139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52 Contry (9.4%)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55264" y="2414016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28416" y="24505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48 Acanto (7.8%)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64592" y="2852928"/>
            <a:ext cx="2944368" cy="32918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" y="28529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personas en fila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286000" y="2852928"/>
            <a:ext cx="822960" cy="329184"/>
          </a:xfrm>
          <a:prstGeom prst="rect">
            <a:avLst/>
          </a:prstGeom>
          <a:solidFill>
            <a:srgbClr val="1A7A70"/>
          </a:solidFill>
          <a:ln w="12700">
            <a:solidFill>
              <a:srgbClr val="1A7A7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0" y="285292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2798064" y="285292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23.3%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64592" y="3200400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7744" y="32369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65 Valle alto (15.0%)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64592" y="3511296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7744" y="35478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54 El Jaral (12.5%)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64592" y="382219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38587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60 Las Torres (12.5%)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64592" y="413308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37744" y="41696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51 Concordia (10.0%)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64592" y="444398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7744" y="44805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50 Citadina Escobedo (7.5%)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255264" y="2852928"/>
            <a:ext cx="2944368" cy="32918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28416" y="28529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floor &gt;3min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376672" y="2852928"/>
            <a:ext cx="822960" cy="329184"/>
          </a:xfrm>
          <a:prstGeom prst="rect">
            <a:avLst/>
          </a:prstGeom>
          <a:solidFill>
            <a:srgbClr val="1A7A70"/>
          </a:solidFill>
          <a:ln w="12700">
            <a:solidFill>
              <a:srgbClr val="1A7A7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76672" y="285292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888736" y="285292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0.6%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255264" y="3200400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28416" y="32369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53 Cumbres (100.0%)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217920" y="822960"/>
            <a:ext cx="2788920" cy="2743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17920" y="8229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CE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217920" y="1133856"/>
            <a:ext cx="2788920" cy="34747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09360" y="11704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order &gt;3min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7754112" y="11704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8357616" y="11704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39.0%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217920" y="1499616"/>
            <a:ext cx="2788920" cy="34747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09360" y="15361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no atendido &gt;1min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7754112" y="153619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8357616" y="153619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37.2%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217920" y="1865376"/>
            <a:ext cx="2788920" cy="34747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309360" y="19019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personas en fila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7754112" y="19019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8357616" y="190195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23.3%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217920" y="2231136"/>
            <a:ext cx="2788920" cy="34747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09360" y="22677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floor &gt;3min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7754112" y="226771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8357616" y="22677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0.6%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217920" y="2596896"/>
            <a:ext cx="2788920" cy="3474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09360" y="259689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CE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7223760" y="259689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8366760" y="2596896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 2 — Reduce Costs: desglose por alerta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30 Abril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60350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367 alertas = 61.2% de notificaciones · Alertas de caja, comportamiento y apertura/cierre de tienda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822960"/>
            <a:ext cx="2944368" cy="329184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" y="82296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móvil/calc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0" y="822960"/>
            <a:ext cx="822960" cy="329184"/>
          </a:xfrm>
          <a:prstGeom prst="rect">
            <a:avLst/>
          </a:prstGeom>
          <a:solidFill>
            <a:srgbClr val="A02060"/>
          </a:solidFill>
          <a:ln w="12700">
            <a:solidFill>
              <a:srgbClr val="A02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82296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98064" y="82296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25.3%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4592" y="117043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" y="12070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55 Heberto Castillo (17.2%)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4592" y="148132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" y="15179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59 Las puentes (17.2%)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64592" y="179222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" y="18288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48 Acanto (10.8%)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4592" y="2103120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" y="2139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49 Arcos del Poniente (7.5%)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4592" y="2414016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" y="24505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63 San Jeronimo (7.5%)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55264" y="822960"/>
            <a:ext cx="2944368" cy="329184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28416" y="82296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PIN pad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76672" y="822960"/>
            <a:ext cx="822960" cy="329184"/>
          </a:xfrm>
          <a:prstGeom prst="rect">
            <a:avLst/>
          </a:prstGeom>
          <a:solidFill>
            <a:srgbClr val="A02060"/>
          </a:solidFill>
          <a:ln w="12700">
            <a:solidFill>
              <a:srgbClr val="A020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76672" y="82296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888736" y="82296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17.4%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55264" y="117043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12070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51 Concordia (48.4%)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55264" y="148132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28416" y="15179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58 La puerta (29.7%)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55264" y="179222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28416" y="18288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52 Contry (10.9%)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55264" y="2103120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28416" y="2139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63 San Jeronimo (10.9%)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64592" y="2852928"/>
            <a:ext cx="2944368" cy="329184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7744" y="28529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Staff fuera caja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286000" y="2852928"/>
            <a:ext cx="822960" cy="329184"/>
          </a:xfrm>
          <a:prstGeom prst="rect">
            <a:avLst/>
          </a:prstGeom>
          <a:solidFill>
            <a:srgbClr val="A02060"/>
          </a:solidFill>
          <a:ln w="12700">
            <a:solidFill>
              <a:srgbClr val="A020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0" y="285292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2798064" y="285292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13.6%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64592" y="3200400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37744" y="32369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53 Cumbres (26.0%)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64592" y="3511296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7744" y="35478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50 Citadina Escobedo (24.0%)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64592" y="382219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7744" y="38587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65 Valle alto (16.0%)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64592" y="413308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41696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58 La puerta (10.0%)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64592" y="444398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37744" y="44805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54 El Jaral (6.0%)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55264" y="2852928"/>
            <a:ext cx="2944368" cy="329184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28416" y="28529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pad misuse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376672" y="2852928"/>
            <a:ext cx="822960" cy="329184"/>
          </a:xfrm>
          <a:prstGeom prst="rect">
            <a:avLst/>
          </a:prstGeom>
          <a:solidFill>
            <a:srgbClr val="A02060"/>
          </a:solidFill>
          <a:ln w="12700">
            <a:solidFill>
              <a:srgbClr val="A0206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76672" y="285292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888736" y="285292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11.4%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255264" y="3200400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328416" y="32369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60 Las Torres (19.0%)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255264" y="3511296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28416" y="35478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56 Israel Cavazos (16.7%)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255264" y="382219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328416" y="38587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50 Citadina Escobedo (11.9%)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55264" y="413308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28416" y="41696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61 Rivera del Sol (11.9%)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255264" y="444398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328416" y="44805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62 Romulo Garza (11.9%)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217920" y="822960"/>
            <a:ext cx="2788920" cy="274320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17920" y="8229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RC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217920" y="1133856"/>
            <a:ext cx="2788920" cy="34518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309360" y="1170432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móvil/calc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7754112" y="1170432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8357616" y="1170432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25.3%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217920" y="1497330"/>
            <a:ext cx="2788920" cy="34518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09360" y="1533906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PIN pad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7754112" y="1533906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8357616" y="1533906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17.4%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217920" y="1860804"/>
            <a:ext cx="2788920" cy="34518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309360" y="1897380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Staff fuera caja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7754112" y="1897380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8357616" y="1897380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13.6%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6217920" y="2224278"/>
            <a:ext cx="2788920" cy="34518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309360" y="2260854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pad misuse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7754112" y="2260854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8357616" y="2260854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11.4%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6217920" y="2587752"/>
            <a:ext cx="2788920" cy="34518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309360" y="2624328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drawer open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7754112" y="2624328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8357616" y="2624328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6.3%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6217920" y="2951226"/>
            <a:ext cx="2788920" cy="34518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309360" y="2987802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fuera caja &gt;1min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7754112" y="2987802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8357616" y="2987802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6.3%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6217920" y="3314700"/>
            <a:ext cx="2788920" cy="345186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309360" y="3351276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inactivo &gt;5min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7754112" y="3351276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8357616" y="3351276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4.4%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6217920" y="3678174"/>
            <a:ext cx="2788920" cy="345186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309360" y="3714750"/>
            <a:ext cx="141732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Staff móvil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7754112" y="3714750"/>
            <a:ext cx="56692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  <p:sp>
        <p:nvSpPr>
          <p:cNvPr id="99" name="Text 97"/>
          <p:cNvSpPr/>
          <p:nvPr/>
        </p:nvSpPr>
        <p:spPr>
          <a:xfrm>
            <a:off x="8357616" y="3714750"/>
            <a:ext cx="60350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4.1%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6217920" y="4041648"/>
            <a:ext cx="2788920" cy="347472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309360" y="40416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RC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7223760" y="40416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367</a:t>
            </a:r>
            <a:endParaRPr lang="en-US" sz="1600" dirty="0"/>
          </a:p>
        </p:txBody>
      </p:sp>
      <p:sp>
        <p:nvSpPr>
          <p:cNvPr id="103" name="Text 101"/>
          <p:cNvSpPr/>
          <p:nvPr/>
        </p:nvSpPr>
        <p:spPr>
          <a:xfrm>
            <a:off x="8366760" y="4041648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 3 — Operational Compliance: desglose por alerta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30 Abril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60350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alertas = 10.2% de notificaciones · Personal inactivo, comportamientos anómalos y falta de cumplimiento SOP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822960"/>
            <a:ext cx="2944368" cy="329184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" y="82296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sin gorra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0" y="822960"/>
            <a:ext cx="822960" cy="329184"/>
          </a:xfrm>
          <a:prstGeom prst="rect">
            <a:avLst/>
          </a:prstGeom>
          <a:solidFill>
            <a:srgbClr val="2A8080"/>
          </a:solidFill>
          <a:ln w="12700">
            <a:solidFill>
              <a:srgbClr val="2A8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82296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98064" y="82296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45.9%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4592" y="117043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" y="12070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48 Acanto (28.6%)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4592" y="148132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" y="15179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52 Contry (17.9%)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64592" y="179222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" y="18288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57 Kune (14.3%)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4592" y="2103120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" y="2139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65 Valle alto (14.3%)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4592" y="2414016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" y="24505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51 Concordia (7.1%)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55264" y="822960"/>
            <a:ext cx="2944368" cy="329184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28416" y="82296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sin uniforme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76672" y="822960"/>
            <a:ext cx="822960" cy="329184"/>
          </a:xfrm>
          <a:prstGeom prst="rect">
            <a:avLst/>
          </a:prstGeom>
          <a:solidFill>
            <a:srgbClr val="2A8080"/>
          </a:solidFill>
          <a:ln w="12700">
            <a:solidFill>
              <a:srgbClr val="2A80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76672" y="82296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888736" y="82296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29.5%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55264" y="117043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12070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57 Kune (44.4%)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55264" y="148132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28416" y="15179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60 Las Torres (16.7%)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55264" y="179222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28416" y="18288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48 Acanto (11.1%)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55264" y="2103120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28416" y="2139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62 Romulo Garza (11.1%)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55264" y="2414016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28416" y="24505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65 Valle alto (11.1%)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64592" y="2852928"/>
            <a:ext cx="2944368" cy="329184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" y="28529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guy waiting &gt;1min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286000" y="2852928"/>
            <a:ext cx="822960" cy="329184"/>
          </a:xfrm>
          <a:prstGeom prst="rect">
            <a:avLst/>
          </a:prstGeom>
          <a:solidFill>
            <a:srgbClr val="2A8080"/>
          </a:solidFill>
          <a:ln w="12700">
            <a:solidFill>
              <a:srgbClr val="2A80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0" y="285292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2798064" y="285292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24.6%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64592" y="3200400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7744" y="32369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48 Acanto (20.0%)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64592" y="3511296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7744" y="35478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53 Cumbres (20.0%)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64592" y="3822192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38587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59 Las puentes (20.0%)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64592" y="4133088"/>
            <a:ext cx="2944368" cy="29260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37744" y="41696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50 Citadina Escobedo (6.7%)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64592" y="4443984"/>
            <a:ext cx="2944368" cy="29260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7744" y="44805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51 Concordia (6.7%)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217920" y="822960"/>
            <a:ext cx="2788920" cy="274320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17920" y="8229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CO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217920" y="1133856"/>
            <a:ext cx="2788920" cy="34747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0" y="11704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sin gorra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754112" y="11704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8357616" y="11704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45.9%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217920" y="1499616"/>
            <a:ext cx="2788920" cy="34747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09360" y="15361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sin uniforme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7754112" y="153619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8357616" y="153619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29.5%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217920" y="1865376"/>
            <a:ext cx="2788920" cy="34747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09360" y="19019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guy waiting &gt;1min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7754112" y="19019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8357616" y="190195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24.6%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217920" y="2231136"/>
            <a:ext cx="2788920" cy="347472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09360" y="223113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7223760" y="22311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366760" y="2231136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🏍️  Delivery — Waiting Time &amp; Alertas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30 Abril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60350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= alertas de repartidores a domicilio · Waiting Time desde que llega hasta recibir pedido · 16 tiendas con datos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64592" y="822960"/>
            <a:ext cx="2194560" cy="2651760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4592" y="914400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avg.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" y="1517904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2:24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164592" y="223113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· grupo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822960"/>
            <a:ext cx="6537960" cy="274320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822960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TIEMPOS DE ESPERA — DELIVERY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60320" y="113385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min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29584" y="1207008"/>
            <a:ext cx="2565989" cy="18288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113385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62.36%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29584" y="140817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entregas dentro del umbral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60320" y="163677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3 min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529584" y="1709928"/>
            <a:ext cx="511881" cy="1828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163677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12.44%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529584" y="191109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rango intermedio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560320" y="213969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3 min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529584" y="2212848"/>
            <a:ext cx="1036518" cy="1828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0" y="213969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25.19%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529584" y="24140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umbral crítico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468880" y="2688336"/>
            <a:ext cx="6537960" cy="329184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0" y="2715768"/>
            <a:ext cx="6382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Insight: </a:t>
            </a:r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Mejor: 56 Israel Cavazos (0:30) · Peor: 49 Arcos del Poniente (3:53)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64592" y="2505456"/>
            <a:ext cx="2194560" cy="201168"/>
          </a:xfrm>
          <a:prstGeom prst="rect">
            <a:avLst/>
          </a:prstGeom>
          <a:solidFill>
            <a:srgbClr val="5A3080"/>
          </a:solidFill>
          <a:ln w="12700">
            <a:solidFill>
              <a:srgbClr val="5A30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4592" y="250545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64592" y="2724912"/>
            <a:ext cx="2194560" cy="219456"/>
          </a:xfrm>
          <a:prstGeom prst="rect">
            <a:avLst/>
          </a:prstGeom>
          <a:solidFill>
            <a:srgbClr val="4A2870"/>
          </a:solidFill>
          <a:ln w="12700">
            <a:solidFill>
              <a:srgbClr val="4A28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744" y="2752344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guy waiting &gt;1min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682496" y="275234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64592" y="3310128"/>
            <a:ext cx="4389120" cy="25603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4592" y="33101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TOP 3 MEJORES — Menor espera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64592" y="3593592"/>
            <a:ext cx="4389120" cy="4572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64592" y="3593592"/>
            <a:ext cx="365760" cy="4572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4592" y="35935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85216" y="36667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Israel Cavazos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364992" y="3648456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164592" y="4032504"/>
            <a:ext cx="4389120" cy="4572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64592" y="4032504"/>
            <a:ext cx="365760" cy="4572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64592" y="403250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85216" y="41056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Romulo Garza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364992" y="408736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1:17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164592" y="4471416"/>
            <a:ext cx="4389120" cy="4572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4592" y="4471416"/>
            <a:ext cx="365760" cy="4572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64592" y="44714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85216" y="45445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San Jeronimo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364992" y="452628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1:20</a:t>
            </a:r>
            <a:endParaRPr lang="en-US" sz="2200" dirty="0"/>
          </a:p>
        </p:txBody>
      </p:sp>
      <p:sp>
        <p:nvSpPr>
          <p:cNvPr id="50" name="Shape 48"/>
          <p:cNvSpPr/>
          <p:nvPr/>
        </p:nvSpPr>
        <p:spPr>
          <a:xfrm>
            <a:off x="4681728" y="3310128"/>
            <a:ext cx="4389120" cy="25603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81728" y="33101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🐌  TOP 3 PEORES — Mayor espera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681728" y="3593592"/>
            <a:ext cx="4389120" cy="4572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81728" y="3593592"/>
            <a:ext cx="365760" cy="4572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81728" y="35935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5102352" y="366674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Arcos del Poniente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607808" y="3648456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3:53</a:t>
            </a:r>
            <a:endParaRPr lang="en-US" sz="2200" dirty="0"/>
          </a:p>
        </p:txBody>
      </p:sp>
      <p:sp>
        <p:nvSpPr>
          <p:cNvPr id="57" name="Shape 55"/>
          <p:cNvSpPr/>
          <p:nvPr/>
        </p:nvSpPr>
        <p:spPr>
          <a:xfrm>
            <a:off x="4681728" y="4032504"/>
            <a:ext cx="4389120" cy="4572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681728" y="4032504"/>
            <a:ext cx="365760" cy="4572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81728" y="403250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5102352" y="410565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El Jaral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7607808" y="408736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3:33</a:t>
            </a:r>
            <a:endParaRPr lang="en-US" sz="2200" dirty="0"/>
          </a:p>
        </p:txBody>
      </p:sp>
      <p:sp>
        <p:nvSpPr>
          <p:cNvPr id="62" name="Shape 60"/>
          <p:cNvSpPr/>
          <p:nvPr/>
        </p:nvSpPr>
        <p:spPr>
          <a:xfrm>
            <a:off x="4681728" y="4471416"/>
            <a:ext cx="4389120" cy="4572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681728" y="4471416"/>
            <a:ext cx="365760" cy="4572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81728" y="44714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5102352" y="454456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Contry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7607808" y="452628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3:09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Drive Thru — Alertas Operativas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30 Abril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60350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 alertas Drive Thru = 25.7% del total de alertas del grupo · Todas las alertas [D] son exclusivas de las estaciones de Drive Thru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841248"/>
            <a:ext cx="2103120" cy="402336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" y="84124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Staff usando PIN pad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9456" y="106070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alertas  41.6%  del total DT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64592" y="1261872"/>
            <a:ext cx="2103120" cy="219456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" y="12618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627632" y="126187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tipo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64592" y="1499616"/>
            <a:ext cx="2103120" cy="38404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744" y="1801368"/>
            <a:ext cx="1371600" cy="54864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" y="15544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Concordia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627632" y="155448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B5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48.4%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64592" y="1901952"/>
            <a:ext cx="2103120" cy="38404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" y="2203704"/>
            <a:ext cx="840658" cy="54864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" y="19568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La puerta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627632" y="195681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B5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29.7%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64592" y="2304288"/>
            <a:ext cx="2103120" cy="38404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7744" y="2606040"/>
            <a:ext cx="309716" cy="54864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7744" y="23591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Contry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627632" y="235915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B5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10.9%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64592" y="2706624"/>
            <a:ext cx="2103120" cy="38404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7744" y="3008376"/>
            <a:ext cx="309716" cy="54864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7744" y="27614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San Jeronimo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627632" y="276148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B5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10.9%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377440" y="841248"/>
            <a:ext cx="2103120" cy="402336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32304" y="84124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Staff fuera caja &gt;1min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432304" y="106070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alertas  32.5%  del total DT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377440" y="1261872"/>
            <a:ext cx="2103120" cy="219456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50592" y="12618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840480" y="126187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tipo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377440" y="1499616"/>
            <a:ext cx="2103120" cy="38404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50592" y="1801368"/>
            <a:ext cx="1371600" cy="54864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50592" y="15544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Cumbres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840480" y="155448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26.0%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377440" y="1901952"/>
            <a:ext cx="2103120" cy="38404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50592" y="2203704"/>
            <a:ext cx="1266092" cy="54864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50592" y="19568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Citadina Escobedo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840480" y="195681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24.0%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377440" y="2304288"/>
            <a:ext cx="2103120" cy="38404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450592" y="2606040"/>
            <a:ext cx="844062" cy="54864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450592" y="23591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Valle alto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840480" y="235915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16.0%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377440" y="2706624"/>
            <a:ext cx="2103120" cy="38404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450592" y="3008376"/>
            <a:ext cx="527538" cy="54864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50592" y="27614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La puerta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840480" y="276148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10.0%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377440" y="3108960"/>
            <a:ext cx="2103120" cy="38404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450592" y="3410712"/>
            <a:ext cx="316523" cy="54864"/>
          </a:xfrm>
          <a:prstGeom prst="rect">
            <a:avLst/>
          </a:prstGeom>
          <a:solidFill>
            <a:srgbClr val="E63B7A"/>
          </a:solidFill>
          <a:ln w="12700">
            <a:solidFill>
              <a:srgbClr val="E63B7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450592" y="31638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El Jaral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840480" y="316382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6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6.0%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590288" y="841248"/>
            <a:ext cx="2103120" cy="40233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45152" y="84124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Cash drawer open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645152" y="106070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alertas  8.4%  del total DT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590288" y="1261872"/>
            <a:ext cx="2103120" cy="219456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63440" y="12618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053328" y="126187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tipo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590288" y="1499616"/>
            <a:ext cx="2103120" cy="38404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663440" y="1801368"/>
            <a:ext cx="13716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63440" y="15544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Contry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6053328" y="155448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30.8%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590288" y="1901952"/>
            <a:ext cx="2103120" cy="38404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663440" y="2203704"/>
            <a:ext cx="6858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663440" y="19568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Cumbres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6053328" y="195681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15.4%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590288" y="2304288"/>
            <a:ext cx="2103120" cy="38404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663440" y="2606040"/>
            <a:ext cx="6858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663440" y="23591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San Jeronimo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6053328" y="235915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15.4%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590288" y="2706624"/>
            <a:ext cx="2103120" cy="38404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663440" y="3008376"/>
            <a:ext cx="3429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663440" y="27614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Concordia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6053328" y="276148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7.7%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4590288" y="3108960"/>
            <a:ext cx="2103120" cy="38404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663440" y="3410712"/>
            <a:ext cx="3429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663440" y="31638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La puerta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6053328" y="316382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7.7%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6803136" y="841248"/>
            <a:ext cx="2103120" cy="402336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858000" y="84124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Staff móvil/calc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858000" y="106070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alertas  9.7%  del total DT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6803136" y="1261872"/>
            <a:ext cx="2103120" cy="219456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876288" y="12618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8266176" y="126187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tipo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6803136" y="1499616"/>
            <a:ext cx="2103120" cy="38404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876288" y="1801368"/>
            <a:ext cx="1371600" cy="54864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876288" y="15544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Cumbres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8266176" y="155448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33.3%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6803136" y="1901952"/>
            <a:ext cx="2103120" cy="38404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876288" y="2203704"/>
            <a:ext cx="822960" cy="54864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876288" y="19568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La puerta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8266176" y="195681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20.0%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6803136" y="2304288"/>
            <a:ext cx="2103120" cy="38404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876288" y="2606040"/>
            <a:ext cx="548640" cy="54864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876288" y="23591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Citadina Escobedo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8266176" y="235915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13.3%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6803136" y="2706624"/>
            <a:ext cx="2103120" cy="384048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876288" y="3008376"/>
            <a:ext cx="548640" cy="54864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876288" y="27614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Contry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8266176" y="276148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13.3%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6803136" y="3108960"/>
            <a:ext cx="2103120" cy="384048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876288" y="3410712"/>
            <a:ext cx="274320" cy="54864"/>
          </a:xfrm>
          <a:prstGeom prst="rect">
            <a:avLst/>
          </a:prstGeom>
          <a:solidFill>
            <a:srgbClr val="4BBFBF"/>
          </a:solidFill>
          <a:ln w="12700">
            <a:solidFill>
              <a:srgbClr val="4BBFB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876288" y="31638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Concordia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8266176" y="316382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6.7%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164592" y="3566160"/>
            <a:ext cx="8778240" cy="274320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74320" y="35661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Receipt not delivered: 12 alertas (7.8% del total DT)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164592" y="3877056"/>
            <a:ext cx="8778240" cy="256032"/>
          </a:xfrm>
          <a:prstGeom prst="rect">
            <a:avLst/>
          </a:prstGeom>
          <a:solidFill>
            <a:srgbClr val="7B52AB"/>
          </a:solidFill>
          <a:ln w="12700">
            <a:solidFill>
              <a:srgbClr val="7B52AB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64592" y="387705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CLAVE — DRIVE THRU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256032" y="416966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PIN pad misuse [D]: 64 alertas (41.6% del total DT) — uso del PIN pad del cliente por parte del staff, riesgo de seguridad financiera.</a:t>
            </a:r>
            <a:endParaRPr lang="en-US" sz="900" dirty="0"/>
          </a:p>
        </p:txBody>
      </p:sp>
      <p:sp>
        <p:nvSpPr>
          <p:cNvPr id="113" name="Text 111"/>
          <p:cNvSpPr/>
          <p:nvPr/>
        </p:nvSpPr>
        <p:spPr>
          <a:xfrm>
            <a:off x="256032" y="4425696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51 Concordia concentra el mayor volumen en PIN pad y 53 Cumbres en staff fuera de caja.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256032" y="46817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Staff fuera de caja &gt;1min [D]: 50 eventos — impacta directamente en los tiempos de espera de Drive Thru.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Cam Check — Análisis de Conectividad de Cámaras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30 Abril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Yedda.ai – Informe de Rendimiento Mensual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60350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alertas Cam Check en 7 tiendas · Una tienda con fallos de cámara puede registrar menos alertas sin que ello refleje mejor performance operativa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822960"/>
            <a:ext cx="2651760" cy="2743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822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FALLO DE CÁMARA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4592" y="1115568"/>
            <a:ext cx="2651760" cy="91440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4592" y="1143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64592" y="169164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Cam Check totales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" y="192024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tiendas afectadas de 17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4592" y="2157984"/>
            <a:ext cx="2651760" cy="274320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2368296"/>
            <a:ext cx="1645920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21945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Connection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68880" y="219456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64592" y="4297680"/>
            <a:ext cx="2651760" cy="548640"/>
          </a:xfrm>
          <a:prstGeom prst="rect">
            <a:avLst/>
          </a:prstGeom>
          <a:solidFill>
            <a:srgbClr val="3A2800"/>
          </a:solidFill>
          <a:ln w="10160">
            <a:solidFill>
              <a:srgbClr val="E8A8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4325112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Ojo: </a:t>
            </a:r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Tiendas con muchos fallos de cámara pueden mostrar menos alertas KBP, lo que NO indica mejor performance — los datos son incompletos.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944368" y="822960"/>
            <a:ext cx="6053328" cy="2743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44368" y="822960"/>
            <a:ext cx="6053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TIENDAS CON ALERTAS CAM CHECK — POSICIÓN EN RANKING GENERAL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944368" y="1115568"/>
            <a:ext cx="6053328" cy="237744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0" y="11155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431536" y="1115568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998464" y="111556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KBP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583680" y="1115568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242048" y="111556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936992" y="11155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944368" y="1371600"/>
            <a:ext cx="6053328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17520" y="13898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Kune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431536" y="138988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98464" y="13898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583680" y="138988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242048" y="138988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/ 17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936992" y="13898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Alto riesgo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944368" y="1645920"/>
            <a:ext cx="6053328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0" y="16642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Romulo Garza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431536" y="166420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998464" y="166420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583680" y="166420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242048" y="166420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/ 17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936992" y="16642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Alto riesgo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944368" y="1920240"/>
            <a:ext cx="6053328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17520" y="19385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Las puentes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431536" y="193852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998464" y="19385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583680" y="193852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242048" y="193852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/ 17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936992" y="19385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🔶 Revisar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944368" y="2194560"/>
            <a:ext cx="6053328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017520" y="22128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Arcos del Poniente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431536" y="221284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998464" y="22128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583680" y="221284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242048" y="221284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 / 17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936992" y="22128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Monit.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944368" y="2468880"/>
            <a:ext cx="6053328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017520" y="24871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Rivera del Sol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431536" y="248716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998464" y="248716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583680" y="248716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242048" y="24871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#11 / 17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936992" y="248716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Monit.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944368" y="2743200"/>
            <a:ext cx="6053328" cy="256032"/>
          </a:xfrm>
          <a:prstGeom prst="rect">
            <a:avLst/>
          </a:prstGeom>
          <a:solidFill>
            <a:srgbClr val="1C3040"/>
          </a:solidFill>
          <a:ln w="12700">
            <a:solidFill>
              <a:srgbClr val="1C304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017520" y="27614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Acanto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431536" y="276148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998464" y="27614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583680" y="276148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242048" y="276148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/ 17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7936992" y="27614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Monit.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944368" y="3017520"/>
            <a:ext cx="6053328" cy="256032"/>
          </a:xfrm>
          <a:prstGeom prst="rect">
            <a:avLst/>
          </a:prstGeom>
          <a:solidFill>
            <a:srgbClr val="243646"/>
          </a:solidFill>
          <a:ln w="12700">
            <a:solidFill>
              <a:srgbClr val="24364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017520" y="30358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Israel Cavazos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431536" y="303580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5998464" y="303580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6583680" y="303580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7242048" y="303580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 / 17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7936992" y="30358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Monit.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Dairy Queen México — Leva — Abril 2026</dc:title>
  <dc:subject>PptxGenJS Presentation</dc:subject>
  <dc:creator>PptxGenJS</dc:creator>
  <cp:lastModifiedBy>PptxGenJS</cp:lastModifiedBy>
  <cp:revision>1</cp:revision>
  <dcterms:created xsi:type="dcterms:W3CDTF">2026-05-20T19:52:09Z</dcterms:created>
  <dcterms:modified xsi:type="dcterms:W3CDTF">2026-05-20T19:52:09Z</dcterms:modified>
</cp:coreProperties>
</file>