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474720" cy="3474720"/>
          </a:xfrm>
          <a:prstGeom prst="ellipse">
            <a:avLst/>
          </a:prstGeom>
          <a:solidFill>
            <a:srgbClr val="163040"/>
          </a:solidFill>
          <a:ln w="12700">
            <a:solidFill>
              <a:srgbClr val="163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Yedda.ai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Queen México — Leva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tiendas activas · DA07QUMX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www.yedda.ai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Mensual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58368"/>
            <a:ext cx="2743200" cy="132588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64592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este 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676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914400"/>
            <a:ext cx="802386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0752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30752" y="13716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371600"/>
            <a:ext cx="1278880" cy="7315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3075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Compliance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0752" y="18288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828800"/>
            <a:ext cx="390083" cy="7315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TIPOS DE ALERTA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" y="2395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2450592"/>
            <a:ext cx="65836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395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" y="28529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2907792"/>
            <a:ext cx="594449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4592" y="33101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PIN pad misuse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3364992"/>
            <a:ext cx="588057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310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4592" y="37673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3822192"/>
            <a:ext cx="530530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67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4592" y="42245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usando móvil (caja)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0" y="4279392"/>
            <a:ext cx="511354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4224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TIENDAS CON MÁS ALERTAS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2452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2452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2245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SERVICIO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 avg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17920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4:18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17920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caja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07808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607808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1:09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607808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pedido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17920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17920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1:16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217920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cola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607808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607808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607808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recepción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217920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17920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2:07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6217920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delivery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607808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07808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7607808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cámara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Y PEOR TIENDA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17920" y="270662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alertas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09360" y="2907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Romulo Garza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772400" y="2779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6217920" y="325526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alertas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309360" y="3456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77240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DESTACADOS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17920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Más rápida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179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217920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0:59 min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607808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07808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Más lenta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607808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607808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Tiendas por KBP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2140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266 alertas 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" y="1060704"/>
            <a:ext cx="2121408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4592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El Jaral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4592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64592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Las Torres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377440" y="640080"/>
            <a:ext cx="212140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424 alertas RC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77440" y="1060704"/>
            <a:ext cx="2121408" cy="7315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06624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377440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6888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706624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2377440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68880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06624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377440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68880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06624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377440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6888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06624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Heberto Castillo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68880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590288" y="640080"/>
            <a:ext cx="212140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OPER. COMPLIANCE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90288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129 alertas CO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90288" y="1060704"/>
            <a:ext cx="2121408" cy="7315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81728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19472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81728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590288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81728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19472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81728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4590288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681728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919472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681728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4590288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81728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919472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81728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4590288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919472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681728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6803136" y="640080"/>
            <a:ext cx="2121408" cy="36576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03136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VELOCIDAD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803136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t. pedido más rápido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803136" y="1060704"/>
            <a:ext cx="2121408" cy="73152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894576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13232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94576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0:59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6803136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89457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1323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894576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1:01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6803136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894576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13232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94576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1:03</a:t>
            </a:r>
            <a:endParaRPr lang="en-US" sz="2200" dirty="0"/>
          </a:p>
        </p:txBody>
      </p:sp>
      <p:sp>
        <p:nvSpPr>
          <p:cNvPr id="91" name="Shape 89"/>
          <p:cNvSpPr/>
          <p:nvPr/>
        </p:nvSpPr>
        <p:spPr>
          <a:xfrm>
            <a:off x="6803136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894576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132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94576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1:06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6803136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6894576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132320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El Jaral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94576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1:06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164592" y="48463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819 notificaciones totales · 17 tiendas activas · 01 – 31 Marzo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Alertas por Área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5943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alertas clasificadas por área · 819 alertas KBP · 17 tiendas activas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Cashier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registradora y atención en mostrador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02152" y="822960"/>
            <a:ext cx="10058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9067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8503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627632"/>
            <a:ext cx="457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901952"/>
            <a:ext cx="279647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9067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8503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2176272"/>
            <a:ext cx="355107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(caja)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9067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8503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2450592"/>
            <a:ext cx="213064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9067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503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2724912"/>
            <a:ext cx="41281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atendido &gt;1min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8503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All Store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7395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en toda la tienda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82712" y="822960"/>
            <a:ext cx="1005840" cy="38404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62279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7123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6559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1627632"/>
            <a:ext cx="4572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7123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6559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1901952"/>
            <a:ext cx="38559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6559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4515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18304" y="2176272"/>
            <a:ext cx="3657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7123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16559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18304" y="2450592"/>
            <a:ext cx="60593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7123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6559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4515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2724912"/>
            <a:ext cx="3657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7123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16559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459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99339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repartidores a domicilio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502152" y="2926080"/>
            <a:ext cx="1005840" cy="384048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0215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414223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6459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09067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68503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459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7744" y="3730752"/>
            <a:ext cx="457200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waiting &gt;1min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09067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8503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64515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3659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647395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exclusivas de Drive Thru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982712" y="2926080"/>
            <a:ext cx="1005840" cy="384048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8271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862279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64515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3659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757123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16559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64515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18304" y="3730752"/>
            <a:ext cx="457200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3659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 [D]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57123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816559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40.7%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64515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18304" y="4005072"/>
            <a:ext cx="313083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3659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[D]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7123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816559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645152" y="409651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718304" y="427939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36592" y="4096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 [D]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571232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16559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45152" y="437083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18304" y="4553712"/>
            <a:ext cx="124239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36592" y="43708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[D]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571232" y="4370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8165592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645152" y="46451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18304" y="4828032"/>
            <a:ext cx="69574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4645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 [D]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571232" y="4645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816559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Servicio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031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4:18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4592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Las puentes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4592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5:27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4592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5:08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4:59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31720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1:09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2331720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31720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9464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9464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0:59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569464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69464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1:01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331720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569464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569464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569464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69464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331720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69464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569464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331720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569464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569464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1:16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498848" y="640080"/>
            <a:ext cx="210312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98848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498848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1:16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498848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1:16</a:t>
            </a:r>
            <a:endParaRPr lang="en-US" sz="3800" dirty="0"/>
          </a:p>
        </p:txBody>
      </p:sp>
      <p:sp>
        <p:nvSpPr>
          <p:cNvPr id="89" name="Text 87"/>
          <p:cNvSpPr/>
          <p:nvPr/>
        </p:nvSpPr>
        <p:spPr>
          <a:xfrm>
            <a:off x="4498848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498848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3659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Heberto Castillo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736592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0:53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498848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736592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736592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0:54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498848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736592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Las puentes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736592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0:58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498848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736592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736592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1:59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498848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4736592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736592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1:27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498848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736592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4736592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1:21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6665976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65976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665976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2:40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665976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</a:t>
            </a:r>
            <a:endParaRPr lang="en-US" sz="3800" dirty="0"/>
          </a:p>
        </p:txBody>
      </p:sp>
      <p:sp>
        <p:nvSpPr>
          <p:cNvPr id="128" name="Text 126"/>
          <p:cNvSpPr/>
          <p:nvPr/>
        </p:nvSpPr>
        <p:spPr>
          <a:xfrm>
            <a:off x="6665976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665976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903720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903720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6665976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6903720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Las puentes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6903720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6665976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69037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Israel Cavazos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690372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665976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690372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903720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3:35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6665976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6903720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6903720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3:29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6665976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6903720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6903720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alertas = 32.5% de notificaciones · Cashier Area es el principal foco de Customer Experience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49 Arcos del Poniente (14.6%)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54 El Jaral (14.6%)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56 Israel Cavazos (8.7%)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61 Rivera del Sol (8.7%)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53 Cumbres (7.8%)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50 Citadina Escobedo (21.5%)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51 Concordia (14.0%)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49 Arcos del Poniente (8.6%)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63 San Jeronimo (8.6%)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54 El Jaral (7.5%)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65 Valle alto (14.3%)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60 Las Torres (12.7%)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51 Concordia (11.1%)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49 Arcos del Poniente (9.5%)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52 Contry (9.5%)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61 Rivera del Sol (28.6%)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50 Citadina Escobedo (14.3%)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52 Contry (14.3%)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54 El Jaral (14.3%)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55 Heberto Castillo (14.3%)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223760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366760" y="25968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 alertas = 51.8% de notificaciones · Alertas de caja, comportamiento y apertura/cierre de tienda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PIN pad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51 Concordia (42.4%)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58 La puerta (38.0%)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52 Contry (15.2%)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63 San Jeronimo (3.3%)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50 Citadina Escobedo (1.1%)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55 Heberto Castillo (21.3%)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59 Las puentes (16.3%)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49 Arcos del Poniente (10.0%)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57 Kune (8.8%)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54 El Jaral (7.5%)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53 Cumbres (22.2%)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50 Citadina Escobedo (20.6%)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51 Concordia (11.1%)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63 San Jeronimo (11.1%)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58 La puerta (9.5%)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49 Arcos del Poniente (16.7%)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55 Heberto Castillo (16.7%)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56 Israel Cavazos (14.6%)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50 Citadina Escobedo (10.4%)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53 Cumbres (8.3%)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RC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PIN pad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7330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390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390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390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0804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89738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89738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89738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24278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0854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0854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0854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87752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24328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2624328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2624328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2951226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98780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754112" y="298780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357616" y="298780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3314700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335127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Receipt not delivered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754112" y="335127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8357616" y="335127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217920" y="3678174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09360" y="371475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754112" y="371475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8357616" y="371475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217920" y="4041648"/>
            <a:ext cx="27889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9360" y="4041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RC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223760" y="4041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8366760" y="40416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Operational Compliance: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alertas = 15.8% de notificaciones · Personal inactivo, comportamientos anómalos y falta de cumplimiento SOP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64.3%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65 Valle alto (30.1%)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48 Acanto (9.6%)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50 Citadina Escobedo (8.4%)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57 Kune (8.4%)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63 San Jeronimo (8.4%)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57 Kune (28.0%)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53 Cumbres (20.0%)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50 Citadina Escobedo (12.0%)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52 Contry (12.0%)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63 San Jeronimo (12.0%)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65 Valle alto (23.8%)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60 Las Torres (19.0%)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50 Citadina Escobedo (9.5%)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52 Contry (9.5%)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55 Heberto Castillo (9.5%)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64.3%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231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223760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66760" y="22311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 — Waiting Time &amp; Alertas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alertas de repartidores a domicilio · Waiting Time desde que llega hasta recibir pedido · 15 tiendas con datos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194560" cy="265176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91440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avg.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5179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64592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· grupo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TIEMPOS DE ESPERA — DELIVERY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1338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9584" y="1207008"/>
            <a:ext cx="91440" cy="182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9584" y="14081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entregas dentro del umbral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9584" y="1709928"/>
            <a:ext cx="9144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9584" y="19110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rango intermedio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39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9584" y="2212848"/>
            <a:ext cx="91440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29584" y="24140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umbral crítico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2688336"/>
            <a:ext cx="6537960" cy="32918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715768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Insight: </a:t>
            </a:r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55 Heberto Castillo (0:43) · Peor: 49 Arcos del Poniente (7:28)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" y="2724912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75234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82496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TOP 3 MEJORES — Menor espera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216" y="3666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Heberto Castillo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64992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0:43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164592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5216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64992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1:07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64592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5216" y="4544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364992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TOP 3 PEORES — Mayor espera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81728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02352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607808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7:28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4681728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102352" y="4105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Israel Cavazos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607808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4:34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4681728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102352" y="4544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El Jaral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607808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4:33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 — Alertas Operativas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alertas Drive Thru = 27.6% del total de alertas del grupo · Todas las alertas [D] son exclusivas de las estaciones de Drive Thru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41248"/>
            <a:ext cx="2103120" cy="402336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usando PIN pad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alertas  40.7%  del total DT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27632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1801368"/>
            <a:ext cx="1371600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27632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2203704"/>
            <a:ext cx="1230923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27632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" y="2606040"/>
            <a:ext cx="492369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27632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" y="3008376"/>
            <a:ext cx="105508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27632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" y="3108960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" y="3410712"/>
            <a:ext cx="36576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27632" y="31638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77440" y="841248"/>
            <a:ext cx="2103120" cy="402336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32304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32304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alertas  27.9%  del total DT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377440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4048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77440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50592" y="1801368"/>
            <a:ext cx="1371600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0592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40480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77440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50592" y="2203704"/>
            <a:ext cx="1273629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50592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0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77440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50592" y="2606040"/>
            <a:ext cx="685800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50592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840480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377440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50592" y="3008376"/>
            <a:ext cx="685800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50592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840480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377440" y="3108960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50592" y="3410712"/>
            <a:ext cx="587829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50592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840480" y="31638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90288" y="841248"/>
            <a:ext cx="2103120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45152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Cash drawer open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645152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alertas  1.8%  del total DT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90288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053328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90288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63440" y="1801368"/>
            <a:ext cx="13716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053328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90288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63440" y="2203704"/>
            <a:ext cx="13716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053328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90288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63440" y="2606040"/>
            <a:ext cx="13716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0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El Jaral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053328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590288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63440" y="3008376"/>
            <a:ext cx="13716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053328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803136" y="841248"/>
            <a:ext cx="2103120" cy="402336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58000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móvil/calc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858000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alertas  11.1%  del total DT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803136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76288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266176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803136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76288" y="1801368"/>
            <a:ext cx="137160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76288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8266176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40.0%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803136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76288" y="2203704"/>
            <a:ext cx="54864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76288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266176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803136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76288" y="2606040"/>
            <a:ext cx="41148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76288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266176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803136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76288" y="3008376"/>
            <a:ext cx="41148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76288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8266176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803136" y="3108960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876288" y="3410712"/>
            <a:ext cx="27432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76288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266176" y="31638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64592" y="3566160"/>
            <a:ext cx="877824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" y="3566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Receipt not delivered: 14 alertas (6.2% del total DT)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 — DRIVE THRU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56032" y="41696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PIN pad misuse [D]: 92 alertas (40.7% del total DT) — uso del PIN pad del cliente por parte del staff, riesgo de seguridad financiera.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256032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51 Concordia concentra el mayor volumen en PIN pad y 53 Cumbres en staff fuera de caja.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256032" y="46817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Staff fuera de caja &gt;1min [D]: 63 eventos — impacta directamente en los tiempos de espera de Drive Thru.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 Check — Análisis de Conectividad de Cámaras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alertas Cam Check en 14 tiendas · Una tienda con fallos de cámara puede registrar menos alertas sin que ello refleje mejor performance operativa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FALLO DE CÁMARA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115568"/>
            <a:ext cx="2651760" cy="9144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" y="1691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 totales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tiendas afectadas de 17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2157984"/>
            <a:ext cx="2651760" cy="2743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368296"/>
            <a:ext cx="164592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194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4297680"/>
            <a:ext cx="2651760" cy="548640"/>
          </a:xfrm>
          <a:prstGeom prst="rect">
            <a:avLst/>
          </a:prstGeom>
          <a:solidFill>
            <a:srgbClr val="3A2800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43251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Ojo: </a:t>
            </a:r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muchos fallos de cámara pueden mostrar menos alertas KBP, lo que NO indica mejor performance — los datos son incompletos.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ALERTAS CAM CHECK — POSICIÓN EN RANKING GENERAL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44368" y="1115568"/>
            <a:ext cx="6053328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31536" y="111556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98464" y="1115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583680" y="11155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242048" y="1115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936992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44368" y="1371600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1389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Romulo Garza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31536" y="13898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98464" y="1389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13898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42048" y="1389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 / 17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36992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44368" y="1627632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Acanto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31536" y="16459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98464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0" y="16459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42048" y="16459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/ 17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36992" y="1645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44368" y="1883664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1901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Las puentes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31536" y="1901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98464" y="1901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83680" y="19019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42048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 / 17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936992" y="1901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44368" y="2139696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31536" y="21579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98464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21579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42048" y="2157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 / 17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936992" y="2157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944368" y="2395728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31536" y="24140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414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0" y="24140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242048" y="2414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/ 17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936992" y="24140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944368" y="2651760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26700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98464" y="26700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83680" y="26700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42048" y="2670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/ 17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936992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944368" y="2907792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0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Las Torres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292608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998464" y="2926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583680" y="29260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242048" y="29260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/ 17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936992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944368" y="3163824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17520" y="3182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318211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998464" y="3182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583680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242048" y="3182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/ 17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936992" y="31821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944368" y="3419856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17520" y="3438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431536" y="34381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998464" y="34381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583680" y="34381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242048" y="34381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 / 17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936992" y="3438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944368" y="3675888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017520" y="3694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431536" y="3694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998464" y="3694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583680" y="369417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242048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 / 17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7936992" y="3694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944368" y="3931920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01752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El Jaral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431536" y="39502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5998464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583680" y="39502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7242048" y="3950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/ 17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936992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944368" y="4187952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017520" y="4206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Heberto Castillo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431536" y="42062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5998464" y="4206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6583680" y="42062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242048" y="42062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/ 17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936992" y="4206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2944368" y="4443984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017520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5431536" y="44622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5998464" y="4462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6583680" y="446227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7242048" y="44622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 / 17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7936992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944368" y="4700016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017520" y="47183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5431536" y="47183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5998464" y="47183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583680" y="471830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7242048" y="4718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/ 17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936992" y="4718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 Queen México — Leva — Marzo 2026</dc:title>
  <dc:subject>PptxGenJS Presentation</dc:subject>
  <dc:creator>PptxGenJS</dc:creator>
  <cp:lastModifiedBy>PptxGenJS</cp:lastModifiedBy>
  <cp:revision>1</cp:revision>
  <dcterms:created xsi:type="dcterms:W3CDTF">2026-05-20T20:34:04Z</dcterms:created>
  <dcterms:modified xsi:type="dcterms:W3CDTF">2026-05-20T20:34:04Z</dcterms:modified>
</cp:coreProperties>
</file>